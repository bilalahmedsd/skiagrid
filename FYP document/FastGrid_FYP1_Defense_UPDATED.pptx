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4"/>
  </p:notesMasterIdLst>
  <p:sldIdLst>
    <p:sldId id="258" r:id="rId2"/>
    <p:sldId id="257" r:id="rId3"/>
    <p:sldId id="260" r:id="rId4"/>
    <p:sldId id="267" r:id="rId5"/>
    <p:sldId id="261" r:id="rId6"/>
    <p:sldId id="270" r:id="rId7"/>
    <p:sldId id="262" r:id="rId8"/>
    <p:sldId id="271" r:id="rId9"/>
    <p:sldId id="263" r:id="rId10"/>
    <p:sldId id="272" r:id="rId11"/>
    <p:sldId id="273" r:id="rId12"/>
    <p:sldId id="264" r:id="rId13"/>
    <p:sldId id="265" r:id="rId14"/>
    <p:sldId id="268" r:id="rId15"/>
    <p:sldId id="269"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66" r:id="rId30"/>
    <p:sldId id="287" r:id="rId31"/>
    <p:sldId id="288" r:id="rId32"/>
    <p:sldId id="289"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6308"/>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2" d="100"/>
          <a:sy n="72" d="100"/>
        </p:scale>
        <p:origin x="1120" y="3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E549A9-3BF9-44AA-A19D-DA2CC1C78AEE}" type="doc">
      <dgm:prSet loTypeId="urn:microsoft.com/office/officeart/2005/8/layout/lProcess3" loCatId="process" qsTypeId="urn:microsoft.com/office/officeart/2005/8/quickstyle/simple1#3" qsCatId="simple" csTypeId="urn:microsoft.com/office/officeart/2005/8/colors/accent1_2#3" csCatId="accent1" phldr="1"/>
      <dgm:spPr/>
      <dgm:t>
        <a:bodyPr/>
        <a:lstStyle/>
        <a:p>
          <a:endParaRPr lang="en-US"/>
        </a:p>
      </dgm:t>
    </dgm:pt>
    <dgm:pt modelId="{DD623C2F-FD1B-4EA6-A0FE-17E00D3D7691}">
      <dgm:prSet phldrT="[Text]" custT="1"/>
      <dgm:spPr/>
      <dgm:t>
        <a:bodyPr/>
        <a:lstStyle/>
        <a:p>
          <a:r>
            <a:rPr lang="en-US" sz="1800" b="0" dirty="0">
              <a:solidFill>
                <a:schemeClr val="tx1">
                  <a:lumMod val="95000"/>
                  <a:lumOff val="5000"/>
                </a:schemeClr>
              </a:solidFill>
              <a:latin typeface="Calibri" panose="020F0502020204030204" pitchFamily="34" charset="0"/>
              <a:cs typeface="Calibri" panose="020F0502020204030204" pitchFamily="34" charset="0"/>
            </a:rPr>
            <a:t>Fast Grid</a:t>
          </a:r>
          <a:r>
            <a:rPr lang="en-US" sz="2000" b="0" dirty="0">
              <a:solidFill>
                <a:schemeClr val="tx1">
                  <a:lumMod val="95000"/>
                  <a:lumOff val="5000"/>
                </a:schemeClr>
              </a:solidFill>
              <a:latin typeface="Calibri" panose="020F0502020204030204" pitchFamily="34" charset="0"/>
              <a:cs typeface="Calibri" panose="020F0502020204030204" pitchFamily="34" charset="0"/>
            </a:rPr>
            <a:t> Control</a:t>
          </a:r>
        </a:p>
      </dgm:t>
    </dgm:pt>
    <dgm:pt modelId="{D9AC52CC-9F59-4620-8536-C26C7F125CCB}" type="parTrans" cxnId="{9EA32EB3-11C5-43DE-B97E-17118C90A1A2}">
      <dgm:prSet/>
      <dgm:spPr/>
      <dgm:t>
        <a:bodyPr/>
        <a:lstStyle/>
        <a:p>
          <a:endParaRPr lang="en-US"/>
        </a:p>
      </dgm:t>
    </dgm:pt>
    <dgm:pt modelId="{5CDE47FF-3CE8-4019-8623-7D32C1DC59A6}" type="sibTrans" cxnId="{9EA32EB3-11C5-43DE-B97E-17118C90A1A2}">
      <dgm:prSet/>
      <dgm:spPr/>
      <dgm:t>
        <a:bodyPr/>
        <a:lstStyle/>
        <a:p>
          <a:endParaRPr lang="en-US"/>
        </a:p>
      </dgm:t>
    </dgm:pt>
    <dgm:pt modelId="{90684860-C971-49EA-8C3A-D7654ED0C64E}">
      <dgm:prSet phldrT="[Text]"/>
      <dgm:spPr>
        <a:solidFill>
          <a:srgbClr val="0070C0">
            <a:alpha val="90000"/>
          </a:srgbClr>
        </a:solidFill>
      </dgm:spPr>
      <dgm:t>
        <a:bodyPr/>
        <a:lstStyle/>
        <a:p>
          <a:r>
            <a:rPr lang="en-US" b="1" dirty="0"/>
            <a:t>Managers</a:t>
          </a:r>
          <a:endParaRPr lang="en-US" dirty="0"/>
        </a:p>
      </dgm:t>
    </dgm:pt>
    <dgm:pt modelId="{46AB1F4C-87F5-4B25-9F42-4A6249B4CD55}" type="parTrans" cxnId="{5168AC27-2776-421A-B25E-9BFE4DF89669}">
      <dgm:prSet/>
      <dgm:spPr/>
      <dgm:t>
        <a:bodyPr/>
        <a:lstStyle/>
        <a:p>
          <a:endParaRPr lang="en-US"/>
        </a:p>
      </dgm:t>
    </dgm:pt>
    <dgm:pt modelId="{B24F8822-8173-4155-A87E-09E31F21BCFD}" type="sibTrans" cxnId="{5168AC27-2776-421A-B25E-9BFE4DF89669}">
      <dgm:prSet/>
      <dgm:spPr/>
      <dgm:t>
        <a:bodyPr/>
        <a:lstStyle/>
        <a:p>
          <a:endParaRPr lang="en-US"/>
        </a:p>
      </dgm:t>
    </dgm:pt>
    <dgm:pt modelId="{F2094737-D2A3-405D-93CE-D624FC487663}">
      <dgm:prSet phldrT="[Text]"/>
      <dgm:spPr>
        <a:solidFill>
          <a:srgbClr val="0070C0">
            <a:alpha val="90000"/>
          </a:srgbClr>
        </a:solidFill>
      </dgm:spPr>
      <dgm:t>
        <a:bodyPr/>
        <a:lstStyle/>
        <a:p>
          <a:r>
            <a:rPr lang="en-US" b="1" dirty="0"/>
            <a:t>Renderer</a:t>
          </a:r>
          <a:endParaRPr lang="en-US" dirty="0"/>
        </a:p>
      </dgm:t>
    </dgm:pt>
    <dgm:pt modelId="{8D83DEDE-EF9B-46E7-A6C7-990F015C2C0B}" type="parTrans" cxnId="{F1E1CA31-C509-4DAE-A93B-BA3E9C227DA3}">
      <dgm:prSet/>
      <dgm:spPr/>
      <dgm:t>
        <a:bodyPr/>
        <a:lstStyle/>
        <a:p>
          <a:endParaRPr lang="en-US"/>
        </a:p>
      </dgm:t>
    </dgm:pt>
    <dgm:pt modelId="{6C08038E-7BCE-49A1-B4BE-919A0446A663}" type="sibTrans" cxnId="{F1E1CA31-C509-4DAE-A93B-BA3E9C227DA3}">
      <dgm:prSet/>
      <dgm:spPr/>
      <dgm:t>
        <a:bodyPr/>
        <a:lstStyle/>
        <a:p>
          <a:endParaRPr lang="en-US"/>
        </a:p>
      </dgm:t>
    </dgm:pt>
    <dgm:pt modelId="{65A628AE-86BB-414B-B350-C00B8C81D4E7}">
      <dgm:prSet phldrT="[Text]" custT="1"/>
      <dgm:spPr/>
      <dgm:t>
        <a:bodyPr/>
        <a:lstStyle/>
        <a:p>
          <a:r>
            <a:rPr lang="en-US" sz="1800" b="1" dirty="0">
              <a:solidFill>
                <a:schemeClr val="tx1">
                  <a:lumMod val="95000"/>
                  <a:lumOff val="5000"/>
                </a:schemeClr>
              </a:solidFill>
              <a:latin typeface="Calibri" panose="020F0502020204030204" pitchFamily="34" charset="0"/>
              <a:cs typeface="Calibri" panose="020F0502020204030204" pitchFamily="34" charset="0"/>
            </a:rPr>
            <a:t>Data / View</a:t>
          </a:r>
          <a:endParaRPr lang="en-US" sz="1800" dirty="0">
            <a:solidFill>
              <a:schemeClr val="tx1">
                <a:lumMod val="95000"/>
                <a:lumOff val="5000"/>
              </a:schemeClr>
            </a:solidFill>
            <a:latin typeface="Calibri" panose="020F0502020204030204" pitchFamily="34" charset="0"/>
            <a:cs typeface="Calibri" panose="020F0502020204030204" pitchFamily="34" charset="0"/>
          </a:endParaRPr>
        </a:p>
      </dgm:t>
    </dgm:pt>
    <dgm:pt modelId="{ECCCDEBC-4E15-4416-923E-0CFFA66697A3}" type="parTrans" cxnId="{7DC8082C-68C2-4B74-A849-9C883591D1B6}">
      <dgm:prSet/>
      <dgm:spPr/>
      <dgm:t>
        <a:bodyPr/>
        <a:lstStyle/>
        <a:p>
          <a:endParaRPr lang="en-US"/>
        </a:p>
      </dgm:t>
    </dgm:pt>
    <dgm:pt modelId="{29329852-BA80-4E1B-90F5-F1F41DB1001D}" type="sibTrans" cxnId="{7DC8082C-68C2-4B74-A849-9C883591D1B6}">
      <dgm:prSet/>
      <dgm:spPr/>
      <dgm:t>
        <a:bodyPr/>
        <a:lstStyle/>
        <a:p>
          <a:endParaRPr lang="en-US"/>
        </a:p>
      </dgm:t>
    </dgm:pt>
    <dgm:pt modelId="{6A6CDB18-3C66-4C03-9CE2-29A8885A3739}">
      <dgm:prSet phldrT="[Text]"/>
      <dgm:spPr>
        <a:solidFill>
          <a:srgbClr val="0070C0">
            <a:alpha val="90000"/>
          </a:srgbClr>
        </a:solidFill>
      </dgm:spPr>
      <dgm:t>
        <a:bodyPr/>
        <a:lstStyle/>
        <a:p>
          <a:r>
            <a:rPr lang="en-US" b="1" dirty="0"/>
            <a:t>Automation</a:t>
          </a:r>
          <a:endParaRPr lang="en-US" dirty="0"/>
        </a:p>
      </dgm:t>
    </dgm:pt>
    <dgm:pt modelId="{99FDF3A6-3D67-471C-95CB-0F98254F16F3}" type="parTrans" cxnId="{D6F537FB-A3FF-4D8B-B6FD-55D6C4DCEE33}">
      <dgm:prSet/>
      <dgm:spPr/>
      <dgm:t>
        <a:bodyPr/>
        <a:lstStyle/>
        <a:p>
          <a:endParaRPr lang="en-US"/>
        </a:p>
      </dgm:t>
    </dgm:pt>
    <dgm:pt modelId="{4A933668-AA7B-4484-A370-649B8C2B4014}" type="sibTrans" cxnId="{D6F537FB-A3FF-4D8B-B6FD-55D6C4DCEE33}">
      <dgm:prSet/>
      <dgm:spPr/>
      <dgm:t>
        <a:bodyPr/>
        <a:lstStyle/>
        <a:p>
          <a:endParaRPr lang="en-US"/>
        </a:p>
      </dgm:t>
    </dgm:pt>
    <dgm:pt modelId="{A549C26F-18CD-43FB-AEA6-3E34E3306548}">
      <dgm:prSet phldrT="[Text]"/>
      <dgm:spPr>
        <a:solidFill>
          <a:srgbClr val="0070C0">
            <a:alpha val="90000"/>
          </a:srgbClr>
        </a:solidFill>
      </dgm:spPr>
      <dgm:t>
        <a:bodyPr/>
        <a:lstStyle/>
        <a:p>
          <a:r>
            <a:rPr lang="en-US" b="1" dirty="0"/>
            <a:t>SK Canvas</a:t>
          </a:r>
          <a:endParaRPr lang="en-US" dirty="0"/>
        </a:p>
      </dgm:t>
    </dgm:pt>
    <dgm:pt modelId="{922ACF36-1404-4E03-9502-0972A723AEF6}" type="parTrans" cxnId="{472B6A46-F8B6-467A-A058-D8F4844C3062}">
      <dgm:prSet/>
      <dgm:spPr/>
      <dgm:t>
        <a:bodyPr/>
        <a:lstStyle/>
        <a:p>
          <a:endParaRPr lang="en-US"/>
        </a:p>
      </dgm:t>
    </dgm:pt>
    <dgm:pt modelId="{44F2AF51-B01B-4AA9-930F-443CDC637370}" type="sibTrans" cxnId="{472B6A46-F8B6-467A-A058-D8F4844C3062}">
      <dgm:prSet/>
      <dgm:spPr/>
      <dgm:t>
        <a:bodyPr/>
        <a:lstStyle/>
        <a:p>
          <a:endParaRPr lang="en-US"/>
        </a:p>
      </dgm:t>
    </dgm:pt>
    <dgm:pt modelId="{76743056-70BB-4D61-8C41-D7270C092088}" type="pres">
      <dgm:prSet presAssocID="{E5E549A9-3BF9-44AA-A19D-DA2CC1C78AEE}" presName="Name0" presStyleCnt="0">
        <dgm:presLayoutVars>
          <dgm:chPref val="3"/>
          <dgm:dir/>
          <dgm:animLvl val="lvl"/>
          <dgm:resizeHandles/>
        </dgm:presLayoutVars>
      </dgm:prSet>
      <dgm:spPr/>
    </dgm:pt>
    <dgm:pt modelId="{DCD45701-6BA2-423D-930A-3F7536340119}" type="pres">
      <dgm:prSet presAssocID="{DD623C2F-FD1B-4EA6-A0FE-17E00D3D7691}" presName="horFlow" presStyleCnt="0"/>
      <dgm:spPr/>
    </dgm:pt>
    <dgm:pt modelId="{85F535F2-FCF8-42D7-8390-CF9DAA45A9AD}" type="pres">
      <dgm:prSet presAssocID="{DD623C2F-FD1B-4EA6-A0FE-17E00D3D7691}" presName="bigChev" presStyleLbl="node1" presStyleIdx="0" presStyleCnt="2"/>
      <dgm:spPr/>
    </dgm:pt>
    <dgm:pt modelId="{C75ADDA6-DB54-4BB2-8F29-44A620BA6426}" type="pres">
      <dgm:prSet presAssocID="{46AB1F4C-87F5-4B25-9F42-4A6249B4CD55}" presName="parTrans" presStyleCnt="0"/>
      <dgm:spPr/>
    </dgm:pt>
    <dgm:pt modelId="{0F9BB1D7-C237-43E0-8998-09CFC850ED49}" type="pres">
      <dgm:prSet presAssocID="{90684860-C971-49EA-8C3A-D7654ED0C64E}" presName="node" presStyleLbl="alignAccFollowNode1" presStyleIdx="0" presStyleCnt="4">
        <dgm:presLayoutVars>
          <dgm:bulletEnabled val="1"/>
        </dgm:presLayoutVars>
      </dgm:prSet>
      <dgm:spPr/>
    </dgm:pt>
    <dgm:pt modelId="{289B0510-7D50-4477-A3A7-8CE54C110CE9}" type="pres">
      <dgm:prSet presAssocID="{B24F8822-8173-4155-A87E-09E31F21BCFD}" presName="sibTrans" presStyleCnt="0"/>
      <dgm:spPr/>
    </dgm:pt>
    <dgm:pt modelId="{D8AACD6D-117C-431A-9943-4620A932F0D8}" type="pres">
      <dgm:prSet presAssocID="{F2094737-D2A3-405D-93CE-D624FC487663}" presName="node" presStyleLbl="alignAccFollowNode1" presStyleIdx="1" presStyleCnt="4">
        <dgm:presLayoutVars>
          <dgm:bulletEnabled val="1"/>
        </dgm:presLayoutVars>
      </dgm:prSet>
      <dgm:spPr/>
    </dgm:pt>
    <dgm:pt modelId="{2A55FE45-CE36-44D3-A96F-600B5477730C}" type="pres">
      <dgm:prSet presAssocID="{DD623C2F-FD1B-4EA6-A0FE-17E00D3D7691}" presName="vSp" presStyleCnt="0"/>
      <dgm:spPr/>
    </dgm:pt>
    <dgm:pt modelId="{E852B9AE-B9FD-4834-A2C4-A54D4B2293AE}" type="pres">
      <dgm:prSet presAssocID="{65A628AE-86BB-414B-B350-C00B8C81D4E7}" presName="horFlow" presStyleCnt="0"/>
      <dgm:spPr/>
    </dgm:pt>
    <dgm:pt modelId="{362CC44A-2041-41C0-A2C3-734FE05F982B}" type="pres">
      <dgm:prSet presAssocID="{65A628AE-86BB-414B-B350-C00B8C81D4E7}" presName="bigChev" presStyleLbl="node1" presStyleIdx="1" presStyleCnt="2"/>
      <dgm:spPr/>
    </dgm:pt>
    <dgm:pt modelId="{33AD4323-613C-4E2F-813F-167763D18770}" type="pres">
      <dgm:prSet presAssocID="{99FDF3A6-3D67-471C-95CB-0F98254F16F3}" presName="parTrans" presStyleCnt="0"/>
      <dgm:spPr/>
    </dgm:pt>
    <dgm:pt modelId="{EAB5201D-0C1A-4AD5-83DA-AA814D4D71F2}" type="pres">
      <dgm:prSet presAssocID="{6A6CDB18-3C66-4C03-9CE2-29A8885A3739}" presName="node" presStyleLbl="alignAccFollowNode1" presStyleIdx="2" presStyleCnt="4">
        <dgm:presLayoutVars>
          <dgm:bulletEnabled val="1"/>
        </dgm:presLayoutVars>
      </dgm:prSet>
      <dgm:spPr/>
    </dgm:pt>
    <dgm:pt modelId="{62AEE8A3-D373-46FC-85D1-37DB9FA8807B}" type="pres">
      <dgm:prSet presAssocID="{4A933668-AA7B-4484-A370-649B8C2B4014}" presName="sibTrans" presStyleCnt="0"/>
      <dgm:spPr/>
    </dgm:pt>
    <dgm:pt modelId="{EF0150B7-65DD-47D2-AC27-1259FCD9AF4C}" type="pres">
      <dgm:prSet presAssocID="{A549C26F-18CD-43FB-AEA6-3E34E3306548}" presName="node" presStyleLbl="alignAccFollowNode1" presStyleIdx="3" presStyleCnt="4">
        <dgm:presLayoutVars>
          <dgm:bulletEnabled val="1"/>
        </dgm:presLayoutVars>
      </dgm:prSet>
      <dgm:spPr/>
    </dgm:pt>
  </dgm:ptLst>
  <dgm:cxnLst>
    <dgm:cxn modelId="{FCE91205-D9D4-48DC-BE54-ED572E1F9A98}" type="presOf" srcId="{6A6CDB18-3C66-4C03-9CE2-29A8885A3739}" destId="{EAB5201D-0C1A-4AD5-83DA-AA814D4D71F2}" srcOrd="0" destOrd="0" presId="urn:microsoft.com/office/officeart/2005/8/layout/lProcess3"/>
    <dgm:cxn modelId="{5168AC27-2776-421A-B25E-9BFE4DF89669}" srcId="{DD623C2F-FD1B-4EA6-A0FE-17E00D3D7691}" destId="{90684860-C971-49EA-8C3A-D7654ED0C64E}" srcOrd="0" destOrd="0" parTransId="{46AB1F4C-87F5-4B25-9F42-4A6249B4CD55}" sibTransId="{B24F8822-8173-4155-A87E-09E31F21BCFD}"/>
    <dgm:cxn modelId="{7DC8082C-68C2-4B74-A849-9C883591D1B6}" srcId="{E5E549A9-3BF9-44AA-A19D-DA2CC1C78AEE}" destId="{65A628AE-86BB-414B-B350-C00B8C81D4E7}" srcOrd="1" destOrd="0" parTransId="{ECCCDEBC-4E15-4416-923E-0CFFA66697A3}" sibTransId="{29329852-BA80-4E1B-90F5-F1F41DB1001D}"/>
    <dgm:cxn modelId="{F1E1CA31-C509-4DAE-A93B-BA3E9C227DA3}" srcId="{DD623C2F-FD1B-4EA6-A0FE-17E00D3D7691}" destId="{F2094737-D2A3-405D-93CE-D624FC487663}" srcOrd="1" destOrd="0" parTransId="{8D83DEDE-EF9B-46E7-A6C7-990F015C2C0B}" sibTransId="{6C08038E-7BCE-49A1-B4BE-919A0446A663}"/>
    <dgm:cxn modelId="{6FE32965-704A-4889-BB4E-DEFCF190ACC4}" type="presOf" srcId="{F2094737-D2A3-405D-93CE-D624FC487663}" destId="{D8AACD6D-117C-431A-9943-4620A932F0D8}" srcOrd="0" destOrd="0" presId="urn:microsoft.com/office/officeart/2005/8/layout/lProcess3"/>
    <dgm:cxn modelId="{472B6A46-F8B6-467A-A058-D8F4844C3062}" srcId="{65A628AE-86BB-414B-B350-C00B8C81D4E7}" destId="{A549C26F-18CD-43FB-AEA6-3E34E3306548}" srcOrd="1" destOrd="0" parTransId="{922ACF36-1404-4E03-9502-0972A723AEF6}" sibTransId="{44F2AF51-B01B-4AA9-930F-443CDC637370}"/>
    <dgm:cxn modelId="{B29D45AF-4885-40D0-B567-07F37B33A8E3}" type="presOf" srcId="{90684860-C971-49EA-8C3A-D7654ED0C64E}" destId="{0F9BB1D7-C237-43E0-8998-09CFC850ED49}" srcOrd="0" destOrd="0" presId="urn:microsoft.com/office/officeart/2005/8/layout/lProcess3"/>
    <dgm:cxn modelId="{9EA32EB3-11C5-43DE-B97E-17118C90A1A2}" srcId="{E5E549A9-3BF9-44AA-A19D-DA2CC1C78AEE}" destId="{DD623C2F-FD1B-4EA6-A0FE-17E00D3D7691}" srcOrd="0" destOrd="0" parTransId="{D9AC52CC-9F59-4620-8536-C26C7F125CCB}" sibTransId="{5CDE47FF-3CE8-4019-8623-7D32C1DC59A6}"/>
    <dgm:cxn modelId="{1147F3CF-3E5A-44AF-8633-C13840BAAFAA}" type="presOf" srcId="{DD623C2F-FD1B-4EA6-A0FE-17E00D3D7691}" destId="{85F535F2-FCF8-42D7-8390-CF9DAA45A9AD}" srcOrd="0" destOrd="0" presId="urn:microsoft.com/office/officeart/2005/8/layout/lProcess3"/>
    <dgm:cxn modelId="{518D7DE6-2CD9-401A-B4B7-071400D36B91}" type="presOf" srcId="{A549C26F-18CD-43FB-AEA6-3E34E3306548}" destId="{EF0150B7-65DD-47D2-AC27-1259FCD9AF4C}" srcOrd="0" destOrd="0" presId="urn:microsoft.com/office/officeart/2005/8/layout/lProcess3"/>
    <dgm:cxn modelId="{98E544EF-3899-41C8-96F4-BD02E64BE23C}" type="presOf" srcId="{E5E549A9-3BF9-44AA-A19D-DA2CC1C78AEE}" destId="{76743056-70BB-4D61-8C41-D7270C092088}" srcOrd="0" destOrd="0" presId="urn:microsoft.com/office/officeart/2005/8/layout/lProcess3"/>
    <dgm:cxn modelId="{2C1920F8-1A73-4054-A8C1-4D4C27EB87AB}" type="presOf" srcId="{65A628AE-86BB-414B-B350-C00B8C81D4E7}" destId="{362CC44A-2041-41C0-A2C3-734FE05F982B}" srcOrd="0" destOrd="0" presId="urn:microsoft.com/office/officeart/2005/8/layout/lProcess3"/>
    <dgm:cxn modelId="{D6F537FB-A3FF-4D8B-B6FD-55D6C4DCEE33}" srcId="{65A628AE-86BB-414B-B350-C00B8C81D4E7}" destId="{6A6CDB18-3C66-4C03-9CE2-29A8885A3739}" srcOrd="0" destOrd="0" parTransId="{99FDF3A6-3D67-471C-95CB-0F98254F16F3}" sibTransId="{4A933668-AA7B-4484-A370-649B8C2B4014}"/>
    <dgm:cxn modelId="{4E85791F-CA24-4122-8E43-0B47190BC958}" type="presParOf" srcId="{76743056-70BB-4D61-8C41-D7270C092088}" destId="{DCD45701-6BA2-423D-930A-3F7536340119}" srcOrd="0" destOrd="0" presId="urn:microsoft.com/office/officeart/2005/8/layout/lProcess3"/>
    <dgm:cxn modelId="{E2ACB0FF-C35A-40B5-9317-2B74F32E3386}" type="presParOf" srcId="{DCD45701-6BA2-423D-930A-3F7536340119}" destId="{85F535F2-FCF8-42D7-8390-CF9DAA45A9AD}" srcOrd="0" destOrd="0" presId="urn:microsoft.com/office/officeart/2005/8/layout/lProcess3"/>
    <dgm:cxn modelId="{80A871BA-9305-4DEC-9994-6098EF26147A}" type="presParOf" srcId="{DCD45701-6BA2-423D-930A-3F7536340119}" destId="{C75ADDA6-DB54-4BB2-8F29-44A620BA6426}" srcOrd="1" destOrd="0" presId="urn:microsoft.com/office/officeart/2005/8/layout/lProcess3"/>
    <dgm:cxn modelId="{3ED6C22D-4D46-444A-AC19-F4D18071617F}" type="presParOf" srcId="{DCD45701-6BA2-423D-930A-3F7536340119}" destId="{0F9BB1D7-C237-43E0-8998-09CFC850ED49}" srcOrd="2" destOrd="0" presId="urn:microsoft.com/office/officeart/2005/8/layout/lProcess3"/>
    <dgm:cxn modelId="{92DE0E11-6555-4AEE-B4A2-86D48C0E5604}" type="presParOf" srcId="{DCD45701-6BA2-423D-930A-3F7536340119}" destId="{289B0510-7D50-4477-A3A7-8CE54C110CE9}" srcOrd="3" destOrd="0" presId="urn:microsoft.com/office/officeart/2005/8/layout/lProcess3"/>
    <dgm:cxn modelId="{EA322096-AD37-4898-B5DC-DE8EEB9B2BFE}" type="presParOf" srcId="{DCD45701-6BA2-423D-930A-3F7536340119}" destId="{D8AACD6D-117C-431A-9943-4620A932F0D8}" srcOrd="4" destOrd="0" presId="urn:microsoft.com/office/officeart/2005/8/layout/lProcess3"/>
    <dgm:cxn modelId="{60280874-F62D-497A-AB4B-8B4F77F0B880}" type="presParOf" srcId="{76743056-70BB-4D61-8C41-D7270C092088}" destId="{2A55FE45-CE36-44D3-A96F-600B5477730C}" srcOrd="1" destOrd="0" presId="urn:microsoft.com/office/officeart/2005/8/layout/lProcess3"/>
    <dgm:cxn modelId="{A7CD9E91-53F8-455E-BB03-BB95BE7CFC3A}" type="presParOf" srcId="{76743056-70BB-4D61-8C41-D7270C092088}" destId="{E852B9AE-B9FD-4834-A2C4-A54D4B2293AE}" srcOrd="2" destOrd="0" presId="urn:microsoft.com/office/officeart/2005/8/layout/lProcess3"/>
    <dgm:cxn modelId="{EB5ED592-9BF3-4A1E-8C24-F2EBCE35D5D2}" type="presParOf" srcId="{E852B9AE-B9FD-4834-A2C4-A54D4B2293AE}" destId="{362CC44A-2041-41C0-A2C3-734FE05F982B}" srcOrd="0" destOrd="0" presId="urn:microsoft.com/office/officeart/2005/8/layout/lProcess3"/>
    <dgm:cxn modelId="{DEE46845-2CB0-40EC-B48F-2E2B034B083B}" type="presParOf" srcId="{E852B9AE-B9FD-4834-A2C4-A54D4B2293AE}" destId="{33AD4323-613C-4E2F-813F-167763D18770}" srcOrd="1" destOrd="0" presId="urn:microsoft.com/office/officeart/2005/8/layout/lProcess3"/>
    <dgm:cxn modelId="{7FEE1401-882C-4DDE-A2F4-85C707352AA1}" type="presParOf" srcId="{E852B9AE-B9FD-4834-A2C4-A54D4B2293AE}" destId="{EAB5201D-0C1A-4AD5-83DA-AA814D4D71F2}" srcOrd="2" destOrd="0" presId="urn:microsoft.com/office/officeart/2005/8/layout/lProcess3"/>
    <dgm:cxn modelId="{7BA284C9-ADB1-41DC-850C-291F88D30DF0}" type="presParOf" srcId="{E852B9AE-B9FD-4834-A2C4-A54D4B2293AE}" destId="{62AEE8A3-D373-46FC-85D1-37DB9FA8807B}" srcOrd="3" destOrd="0" presId="urn:microsoft.com/office/officeart/2005/8/layout/lProcess3"/>
    <dgm:cxn modelId="{1E9862A7-93A0-4503-9D68-C7DA55932D36}" type="presParOf" srcId="{E852B9AE-B9FD-4834-A2C4-A54D4B2293AE}" destId="{EF0150B7-65DD-47D2-AC27-1259FCD9AF4C}" srcOrd="4"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8B8303-7D25-4249-BFAD-E4B37E905BB7}" type="doc">
      <dgm:prSet loTypeId="urn:microsoft.com/office/officeart/2005/8/layout/cycle5" loCatId="cycle" qsTypeId="urn:microsoft.com/office/officeart/2005/8/quickstyle/simple1#4" qsCatId="simple" csTypeId="urn:microsoft.com/office/officeart/2005/8/colors/accent1_2#4" csCatId="accent1" phldr="1"/>
      <dgm:spPr/>
      <dgm:t>
        <a:bodyPr/>
        <a:lstStyle/>
        <a:p>
          <a:endParaRPr lang="en-US"/>
        </a:p>
      </dgm:t>
    </dgm:pt>
    <dgm:pt modelId="{C4D06522-CAF7-41A5-A2CF-6FC3707386F9}">
      <dgm:prSet phldrT="[Text]"/>
      <dgm:spPr>
        <a:solidFill>
          <a:srgbClr val="92D050"/>
        </a:solidFill>
      </dgm:spPr>
      <dgm:t>
        <a:bodyPr/>
        <a:lstStyle/>
        <a:p>
          <a:r>
            <a:rPr lang="en-US" b="1" dirty="0">
              <a:solidFill>
                <a:schemeClr val="tx1">
                  <a:lumMod val="95000"/>
                  <a:lumOff val="5000"/>
                </a:schemeClr>
              </a:solidFill>
            </a:rPr>
            <a:t>Git Repo</a:t>
          </a:r>
          <a:endParaRPr lang="en-US" dirty="0">
            <a:solidFill>
              <a:schemeClr val="tx1">
                <a:lumMod val="95000"/>
                <a:lumOff val="5000"/>
              </a:schemeClr>
            </a:solidFill>
          </a:endParaRPr>
        </a:p>
      </dgm:t>
    </dgm:pt>
    <dgm:pt modelId="{7A228F13-A0F1-4512-9010-9CDC5F21CEB6}" type="parTrans" cxnId="{56CD5A01-DB35-417C-A1B8-B5756B55FA06}">
      <dgm:prSet/>
      <dgm:spPr/>
      <dgm:t>
        <a:bodyPr/>
        <a:lstStyle/>
        <a:p>
          <a:endParaRPr lang="en-US"/>
        </a:p>
      </dgm:t>
    </dgm:pt>
    <dgm:pt modelId="{859A4BF2-EA85-4FBB-8D20-8203B9A64CCD}" type="sibTrans" cxnId="{56CD5A01-DB35-417C-A1B8-B5756B55FA06}">
      <dgm:prSet/>
      <dgm:spPr/>
      <dgm:t>
        <a:bodyPr/>
        <a:lstStyle/>
        <a:p>
          <a:endParaRPr lang="en-US"/>
        </a:p>
      </dgm:t>
    </dgm:pt>
    <dgm:pt modelId="{D2E9B1D9-BC44-432D-81D1-4549D1F1C324}">
      <dgm:prSet phldrT="[Text]"/>
      <dgm:spPr>
        <a:solidFill>
          <a:srgbClr val="F86308"/>
        </a:solidFill>
      </dgm:spPr>
      <dgm:t>
        <a:bodyPr/>
        <a:lstStyle/>
        <a:p>
          <a:r>
            <a:rPr lang="en-US" b="1" dirty="0">
              <a:solidFill>
                <a:schemeClr val="tx1">
                  <a:lumMod val="95000"/>
                  <a:lumOff val="5000"/>
                </a:schemeClr>
              </a:solidFill>
            </a:rPr>
            <a:t>CI/CD</a:t>
          </a:r>
          <a:endParaRPr lang="en-US" dirty="0">
            <a:solidFill>
              <a:schemeClr val="tx1">
                <a:lumMod val="95000"/>
                <a:lumOff val="5000"/>
              </a:schemeClr>
            </a:solidFill>
          </a:endParaRPr>
        </a:p>
      </dgm:t>
    </dgm:pt>
    <dgm:pt modelId="{94219B3D-0299-490D-812C-67ED97556A3C}" type="parTrans" cxnId="{9F09F3B7-1ADE-4366-B8BE-FDB09CBBF3C7}">
      <dgm:prSet/>
      <dgm:spPr/>
      <dgm:t>
        <a:bodyPr/>
        <a:lstStyle/>
        <a:p>
          <a:endParaRPr lang="en-US"/>
        </a:p>
      </dgm:t>
    </dgm:pt>
    <dgm:pt modelId="{8C439AAA-6596-4F2F-B15C-C7C2940CDB91}" type="sibTrans" cxnId="{9F09F3B7-1ADE-4366-B8BE-FDB09CBBF3C7}">
      <dgm:prSet/>
      <dgm:spPr/>
      <dgm:t>
        <a:bodyPr/>
        <a:lstStyle/>
        <a:p>
          <a:endParaRPr lang="en-US"/>
        </a:p>
      </dgm:t>
    </dgm:pt>
    <dgm:pt modelId="{2F9BA2A1-4236-483B-A552-4266A078C40A}">
      <dgm:prSet phldrT="[Text]"/>
      <dgm:spPr>
        <a:solidFill>
          <a:srgbClr val="FFC000"/>
        </a:solidFill>
      </dgm:spPr>
      <dgm:t>
        <a:bodyPr/>
        <a:lstStyle/>
        <a:p>
          <a:r>
            <a:rPr lang="en-US" b="1" dirty="0">
              <a:solidFill>
                <a:schemeClr val="tx1">
                  <a:lumMod val="95000"/>
                  <a:lumOff val="5000"/>
                </a:schemeClr>
              </a:solidFill>
            </a:rPr>
            <a:t>NuGet Registry</a:t>
          </a:r>
          <a:endParaRPr lang="en-US" dirty="0">
            <a:solidFill>
              <a:schemeClr val="tx1">
                <a:lumMod val="95000"/>
                <a:lumOff val="5000"/>
              </a:schemeClr>
            </a:solidFill>
          </a:endParaRPr>
        </a:p>
      </dgm:t>
    </dgm:pt>
    <dgm:pt modelId="{856213F1-DCA2-4FDD-947D-BE18DDA3354A}" type="parTrans" cxnId="{85E11E55-95E8-4895-9D73-F1CD08D36B4B}">
      <dgm:prSet/>
      <dgm:spPr/>
      <dgm:t>
        <a:bodyPr/>
        <a:lstStyle/>
        <a:p>
          <a:endParaRPr lang="en-US"/>
        </a:p>
      </dgm:t>
    </dgm:pt>
    <dgm:pt modelId="{8B2C9D17-6737-4F99-A252-2A8F13996CF1}" type="sibTrans" cxnId="{85E11E55-95E8-4895-9D73-F1CD08D36B4B}">
      <dgm:prSet/>
      <dgm:spPr/>
      <dgm:t>
        <a:bodyPr/>
        <a:lstStyle/>
        <a:p>
          <a:endParaRPr lang="en-US"/>
        </a:p>
      </dgm:t>
    </dgm:pt>
    <dgm:pt modelId="{2E050948-859A-46F8-B060-C54BB41501E3}">
      <dgm:prSet phldrT="[Text]"/>
      <dgm:spPr>
        <a:solidFill>
          <a:schemeClr val="bg1">
            <a:lumMod val="50000"/>
          </a:schemeClr>
        </a:solidFill>
      </dgm:spPr>
      <dgm:t>
        <a:bodyPr/>
        <a:lstStyle/>
        <a:p>
          <a:r>
            <a:rPr lang="en-US" b="1" dirty="0">
              <a:solidFill>
                <a:schemeClr val="tx1">
                  <a:lumMod val="95000"/>
                  <a:lumOff val="5000"/>
                </a:schemeClr>
              </a:solidFill>
            </a:rPr>
            <a:t>Metrics / Logs</a:t>
          </a:r>
          <a:endParaRPr lang="en-US" dirty="0">
            <a:solidFill>
              <a:schemeClr val="tx1">
                <a:lumMod val="95000"/>
                <a:lumOff val="5000"/>
              </a:schemeClr>
            </a:solidFill>
          </a:endParaRPr>
        </a:p>
      </dgm:t>
    </dgm:pt>
    <dgm:pt modelId="{846DCFA8-8410-4140-B775-9A9C900BB704}" type="parTrans" cxnId="{B941E937-6F44-4052-A9C5-82365A83EBD3}">
      <dgm:prSet/>
      <dgm:spPr/>
      <dgm:t>
        <a:bodyPr/>
        <a:lstStyle/>
        <a:p>
          <a:endParaRPr lang="en-US"/>
        </a:p>
      </dgm:t>
    </dgm:pt>
    <dgm:pt modelId="{C7928E05-1C58-450C-A88C-24FDA5D4B6CE}" type="sibTrans" cxnId="{B941E937-6F44-4052-A9C5-82365A83EBD3}">
      <dgm:prSet/>
      <dgm:spPr/>
      <dgm:t>
        <a:bodyPr/>
        <a:lstStyle/>
        <a:p>
          <a:endParaRPr lang="en-US"/>
        </a:p>
      </dgm:t>
    </dgm:pt>
    <dgm:pt modelId="{080BB847-F93D-415D-8C33-38FE22945BD6}">
      <dgm:prSet/>
      <dgm:spPr>
        <a:solidFill>
          <a:srgbClr val="0070C0"/>
        </a:solidFill>
      </dgm:spPr>
      <dgm:t>
        <a:bodyPr/>
        <a:lstStyle/>
        <a:p>
          <a:r>
            <a:rPr lang="en-US" b="1" dirty="0">
              <a:solidFill>
                <a:schemeClr val="tx1">
                  <a:lumMod val="95000"/>
                  <a:lumOff val="5000"/>
                </a:schemeClr>
              </a:solidFill>
            </a:rPr>
            <a:t>Telemetry</a:t>
          </a:r>
        </a:p>
      </dgm:t>
    </dgm:pt>
    <dgm:pt modelId="{9D7625A4-85E3-4BB8-80D5-05609D782FAE}" type="parTrans" cxnId="{50BCECF3-9462-46F8-B0FE-ED653AB0DCA0}">
      <dgm:prSet/>
      <dgm:spPr/>
      <dgm:t>
        <a:bodyPr/>
        <a:lstStyle/>
        <a:p>
          <a:endParaRPr lang="en-US"/>
        </a:p>
      </dgm:t>
    </dgm:pt>
    <dgm:pt modelId="{0A9D5357-724C-4946-9751-71D9F3E3CA17}" type="sibTrans" cxnId="{50BCECF3-9462-46F8-B0FE-ED653AB0DCA0}">
      <dgm:prSet/>
      <dgm:spPr/>
      <dgm:t>
        <a:bodyPr/>
        <a:lstStyle/>
        <a:p>
          <a:endParaRPr lang="en-US"/>
        </a:p>
      </dgm:t>
    </dgm:pt>
    <dgm:pt modelId="{2FC51317-58F1-4D97-BD3D-4C6A7C802E8A}" type="pres">
      <dgm:prSet presAssocID="{E28B8303-7D25-4249-BFAD-E4B37E905BB7}" presName="cycle" presStyleCnt="0">
        <dgm:presLayoutVars>
          <dgm:dir/>
          <dgm:resizeHandles val="exact"/>
        </dgm:presLayoutVars>
      </dgm:prSet>
      <dgm:spPr/>
    </dgm:pt>
    <dgm:pt modelId="{B47C98AE-DD54-4564-87C6-270AF972F3DC}" type="pres">
      <dgm:prSet presAssocID="{C4D06522-CAF7-41A5-A2CF-6FC3707386F9}" presName="node" presStyleLbl="node1" presStyleIdx="0" presStyleCnt="5">
        <dgm:presLayoutVars>
          <dgm:bulletEnabled val="1"/>
        </dgm:presLayoutVars>
      </dgm:prSet>
      <dgm:spPr/>
    </dgm:pt>
    <dgm:pt modelId="{A19CD925-4D77-41B4-B378-891A8BB8769B}" type="pres">
      <dgm:prSet presAssocID="{C4D06522-CAF7-41A5-A2CF-6FC3707386F9}" presName="spNode" presStyleCnt="0"/>
      <dgm:spPr/>
    </dgm:pt>
    <dgm:pt modelId="{171B3B4A-D7F5-4B2E-AD9E-9376EDF95574}" type="pres">
      <dgm:prSet presAssocID="{859A4BF2-EA85-4FBB-8D20-8203B9A64CCD}" presName="sibTrans" presStyleLbl="sibTrans1D1" presStyleIdx="0" presStyleCnt="5"/>
      <dgm:spPr/>
    </dgm:pt>
    <dgm:pt modelId="{776565DF-D43B-4105-B2BC-FC9F481016BF}" type="pres">
      <dgm:prSet presAssocID="{D2E9B1D9-BC44-432D-81D1-4549D1F1C324}" presName="node" presStyleLbl="node1" presStyleIdx="1" presStyleCnt="5">
        <dgm:presLayoutVars>
          <dgm:bulletEnabled val="1"/>
        </dgm:presLayoutVars>
      </dgm:prSet>
      <dgm:spPr/>
    </dgm:pt>
    <dgm:pt modelId="{F4DE6596-8DFB-4FCD-B1E0-299B7511741D}" type="pres">
      <dgm:prSet presAssocID="{D2E9B1D9-BC44-432D-81D1-4549D1F1C324}" presName="spNode" presStyleCnt="0"/>
      <dgm:spPr/>
    </dgm:pt>
    <dgm:pt modelId="{5C9EFD43-B3E9-4CC1-BAF0-16D305C0F504}" type="pres">
      <dgm:prSet presAssocID="{8C439AAA-6596-4F2F-B15C-C7C2940CDB91}" presName="sibTrans" presStyleLbl="sibTrans1D1" presStyleIdx="1" presStyleCnt="5"/>
      <dgm:spPr/>
    </dgm:pt>
    <dgm:pt modelId="{7CECF9CA-E2B2-438B-8BC9-57824DCAA88B}" type="pres">
      <dgm:prSet presAssocID="{2F9BA2A1-4236-483B-A552-4266A078C40A}" presName="node" presStyleLbl="node1" presStyleIdx="2" presStyleCnt="5">
        <dgm:presLayoutVars>
          <dgm:bulletEnabled val="1"/>
        </dgm:presLayoutVars>
      </dgm:prSet>
      <dgm:spPr/>
    </dgm:pt>
    <dgm:pt modelId="{5ABF3A3A-91E9-41A8-844A-DBA1FA93EA22}" type="pres">
      <dgm:prSet presAssocID="{2F9BA2A1-4236-483B-A552-4266A078C40A}" presName="spNode" presStyleCnt="0"/>
      <dgm:spPr/>
    </dgm:pt>
    <dgm:pt modelId="{74B06A32-CCF5-4259-90F5-0C8D2FA7F4C2}" type="pres">
      <dgm:prSet presAssocID="{8B2C9D17-6737-4F99-A252-2A8F13996CF1}" presName="sibTrans" presStyleLbl="sibTrans1D1" presStyleIdx="2" presStyleCnt="5"/>
      <dgm:spPr/>
    </dgm:pt>
    <dgm:pt modelId="{423C3E3D-5798-4D6E-8CE0-FB0CB6101895}" type="pres">
      <dgm:prSet presAssocID="{080BB847-F93D-415D-8C33-38FE22945BD6}" presName="node" presStyleLbl="node1" presStyleIdx="3" presStyleCnt="5">
        <dgm:presLayoutVars>
          <dgm:bulletEnabled val="1"/>
        </dgm:presLayoutVars>
      </dgm:prSet>
      <dgm:spPr/>
    </dgm:pt>
    <dgm:pt modelId="{3EA4C648-811E-4E86-8898-AB449BAF900A}" type="pres">
      <dgm:prSet presAssocID="{080BB847-F93D-415D-8C33-38FE22945BD6}" presName="spNode" presStyleCnt="0"/>
      <dgm:spPr/>
    </dgm:pt>
    <dgm:pt modelId="{7D0086F0-E709-4CD4-A978-23AA7FC37CA2}" type="pres">
      <dgm:prSet presAssocID="{0A9D5357-724C-4946-9751-71D9F3E3CA17}" presName="sibTrans" presStyleLbl="sibTrans1D1" presStyleIdx="3" presStyleCnt="5"/>
      <dgm:spPr/>
    </dgm:pt>
    <dgm:pt modelId="{AF55F9A6-D549-481B-9371-B2ED2436751F}" type="pres">
      <dgm:prSet presAssocID="{2E050948-859A-46F8-B060-C54BB41501E3}" presName="node" presStyleLbl="node1" presStyleIdx="4" presStyleCnt="5">
        <dgm:presLayoutVars>
          <dgm:bulletEnabled val="1"/>
        </dgm:presLayoutVars>
      </dgm:prSet>
      <dgm:spPr/>
    </dgm:pt>
    <dgm:pt modelId="{9F70AFE8-E6B2-499E-BCB1-E9DBBA0DB8CD}" type="pres">
      <dgm:prSet presAssocID="{2E050948-859A-46F8-B060-C54BB41501E3}" presName="spNode" presStyleCnt="0"/>
      <dgm:spPr/>
    </dgm:pt>
    <dgm:pt modelId="{2482A93D-24C1-41B5-A2A2-BBF4C82F72BD}" type="pres">
      <dgm:prSet presAssocID="{C7928E05-1C58-450C-A88C-24FDA5D4B6CE}" presName="sibTrans" presStyleLbl="sibTrans1D1" presStyleIdx="4" presStyleCnt="5"/>
      <dgm:spPr/>
    </dgm:pt>
  </dgm:ptLst>
  <dgm:cxnLst>
    <dgm:cxn modelId="{56CD5A01-DB35-417C-A1B8-B5756B55FA06}" srcId="{E28B8303-7D25-4249-BFAD-E4B37E905BB7}" destId="{C4D06522-CAF7-41A5-A2CF-6FC3707386F9}" srcOrd="0" destOrd="0" parTransId="{7A228F13-A0F1-4512-9010-9CDC5F21CEB6}" sibTransId="{859A4BF2-EA85-4FBB-8D20-8203B9A64CCD}"/>
    <dgm:cxn modelId="{F8F32812-CF96-42B0-8B15-88C78C757FAB}" type="presOf" srcId="{0A9D5357-724C-4946-9751-71D9F3E3CA17}" destId="{7D0086F0-E709-4CD4-A978-23AA7FC37CA2}" srcOrd="0" destOrd="0" presId="urn:microsoft.com/office/officeart/2005/8/layout/cycle5"/>
    <dgm:cxn modelId="{43C20F24-D2F8-4026-9772-4D7A986F6B5D}" type="presOf" srcId="{080BB847-F93D-415D-8C33-38FE22945BD6}" destId="{423C3E3D-5798-4D6E-8CE0-FB0CB6101895}" srcOrd="0" destOrd="0" presId="urn:microsoft.com/office/officeart/2005/8/layout/cycle5"/>
    <dgm:cxn modelId="{B941E937-6F44-4052-A9C5-82365A83EBD3}" srcId="{E28B8303-7D25-4249-BFAD-E4B37E905BB7}" destId="{2E050948-859A-46F8-B060-C54BB41501E3}" srcOrd="4" destOrd="0" parTransId="{846DCFA8-8410-4140-B775-9A9C900BB704}" sibTransId="{C7928E05-1C58-450C-A88C-24FDA5D4B6CE}"/>
    <dgm:cxn modelId="{53684D63-D1C6-43BC-9E97-F8AEB9828B11}" type="presOf" srcId="{8B2C9D17-6737-4F99-A252-2A8F13996CF1}" destId="{74B06A32-CCF5-4259-90F5-0C8D2FA7F4C2}" srcOrd="0" destOrd="0" presId="urn:microsoft.com/office/officeart/2005/8/layout/cycle5"/>
    <dgm:cxn modelId="{29DA7452-8BB4-49DF-95E6-042C90CC418F}" type="presOf" srcId="{C7928E05-1C58-450C-A88C-24FDA5D4B6CE}" destId="{2482A93D-24C1-41B5-A2A2-BBF4C82F72BD}" srcOrd="0" destOrd="0" presId="urn:microsoft.com/office/officeart/2005/8/layout/cycle5"/>
    <dgm:cxn modelId="{914FD254-0FCA-42DB-B60E-F7D300B1A4CE}" type="presOf" srcId="{D2E9B1D9-BC44-432D-81D1-4549D1F1C324}" destId="{776565DF-D43B-4105-B2BC-FC9F481016BF}" srcOrd="0" destOrd="0" presId="urn:microsoft.com/office/officeart/2005/8/layout/cycle5"/>
    <dgm:cxn modelId="{85E11E55-95E8-4895-9D73-F1CD08D36B4B}" srcId="{E28B8303-7D25-4249-BFAD-E4B37E905BB7}" destId="{2F9BA2A1-4236-483B-A552-4266A078C40A}" srcOrd="2" destOrd="0" parTransId="{856213F1-DCA2-4FDD-947D-BE18DDA3354A}" sibTransId="{8B2C9D17-6737-4F99-A252-2A8F13996CF1}"/>
    <dgm:cxn modelId="{6D688295-EF03-45B0-B493-14F5129FEBD1}" type="presOf" srcId="{2F9BA2A1-4236-483B-A552-4266A078C40A}" destId="{7CECF9CA-E2B2-438B-8BC9-57824DCAA88B}" srcOrd="0" destOrd="0" presId="urn:microsoft.com/office/officeart/2005/8/layout/cycle5"/>
    <dgm:cxn modelId="{F507A196-578D-4754-932B-4492FF6567C3}" type="presOf" srcId="{8C439AAA-6596-4F2F-B15C-C7C2940CDB91}" destId="{5C9EFD43-B3E9-4CC1-BAF0-16D305C0F504}" srcOrd="0" destOrd="0" presId="urn:microsoft.com/office/officeart/2005/8/layout/cycle5"/>
    <dgm:cxn modelId="{8EF31FAE-BAAC-4424-9E5B-5C55F0F5E89B}" type="presOf" srcId="{C4D06522-CAF7-41A5-A2CF-6FC3707386F9}" destId="{B47C98AE-DD54-4564-87C6-270AF972F3DC}" srcOrd="0" destOrd="0" presId="urn:microsoft.com/office/officeart/2005/8/layout/cycle5"/>
    <dgm:cxn modelId="{9F09F3B7-1ADE-4366-B8BE-FDB09CBBF3C7}" srcId="{E28B8303-7D25-4249-BFAD-E4B37E905BB7}" destId="{D2E9B1D9-BC44-432D-81D1-4549D1F1C324}" srcOrd="1" destOrd="0" parTransId="{94219B3D-0299-490D-812C-67ED97556A3C}" sibTransId="{8C439AAA-6596-4F2F-B15C-C7C2940CDB91}"/>
    <dgm:cxn modelId="{30F5E4E3-7228-4D9C-B109-6F9854097914}" type="presOf" srcId="{E28B8303-7D25-4249-BFAD-E4B37E905BB7}" destId="{2FC51317-58F1-4D97-BD3D-4C6A7C802E8A}" srcOrd="0" destOrd="0" presId="urn:microsoft.com/office/officeart/2005/8/layout/cycle5"/>
    <dgm:cxn modelId="{50BCECF3-9462-46F8-B0FE-ED653AB0DCA0}" srcId="{E28B8303-7D25-4249-BFAD-E4B37E905BB7}" destId="{080BB847-F93D-415D-8C33-38FE22945BD6}" srcOrd="3" destOrd="0" parTransId="{9D7625A4-85E3-4BB8-80D5-05609D782FAE}" sibTransId="{0A9D5357-724C-4946-9751-71D9F3E3CA17}"/>
    <dgm:cxn modelId="{B85098F4-BD3A-495E-9748-BA78B58C7BDE}" type="presOf" srcId="{2E050948-859A-46F8-B060-C54BB41501E3}" destId="{AF55F9A6-D549-481B-9371-B2ED2436751F}" srcOrd="0" destOrd="0" presId="urn:microsoft.com/office/officeart/2005/8/layout/cycle5"/>
    <dgm:cxn modelId="{531E6AF5-54C6-4CA3-92A1-4F82D2C3DB1F}" type="presOf" srcId="{859A4BF2-EA85-4FBB-8D20-8203B9A64CCD}" destId="{171B3B4A-D7F5-4B2E-AD9E-9376EDF95574}" srcOrd="0" destOrd="0" presId="urn:microsoft.com/office/officeart/2005/8/layout/cycle5"/>
    <dgm:cxn modelId="{A249B776-E7DA-43B3-9D2A-7EE462D777DE}" type="presParOf" srcId="{2FC51317-58F1-4D97-BD3D-4C6A7C802E8A}" destId="{B47C98AE-DD54-4564-87C6-270AF972F3DC}" srcOrd="0" destOrd="0" presId="urn:microsoft.com/office/officeart/2005/8/layout/cycle5"/>
    <dgm:cxn modelId="{6E0496AB-73AB-430E-B125-4818C774AD65}" type="presParOf" srcId="{2FC51317-58F1-4D97-BD3D-4C6A7C802E8A}" destId="{A19CD925-4D77-41B4-B378-891A8BB8769B}" srcOrd="1" destOrd="0" presId="urn:microsoft.com/office/officeart/2005/8/layout/cycle5"/>
    <dgm:cxn modelId="{01D2F049-854E-4348-ABEB-A9C6D67B6E20}" type="presParOf" srcId="{2FC51317-58F1-4D97-BD3D-4C6A7C802E8A}" destId="{171B3B4A-D7F5-4B2E-AD9E-9376EDF95574}" srcOrd="2" destOrd="0" presId="urn:microsoft.com/office/officeart/2005/8/layout/cycle5"/>
    <dgm:cxn modelId="{5E6BF7B7-42BE-4379-A187-D778C2E06422}" type="presParOf" srcId="{2FC51317-58F1-4D97-BD3D-4C6A7C802E8A}" destId="{776565DF-D43B-4105-B2BC-FC9F481016BF}" srcOrd="3" destOrd="0" presId="urn:microsoft.com/office/officeart/2005/8/layout/cycle5"/>
    <dgm:cxn modelId="{4CF1192B-E2F5-4D43-949E-B1AA1D00FDF9}" type="presParOf" srcId="{2FC51317-58F1-4D97-BD3D-4C6A7C802E8A}" destId="{F4DE6596-8DFB-4FCD-B1E0-299B7511741D}" srcOrd="4" destOrd="0" presId="urn:microsoft.com/office/officeart/2005/8/layout/cycle5"/>
    <dgm:cxn modelId="{58FE0555-C449-4452-A13E-8235EABEFF89}" type="presParOf" srcId="{2FC51317-58F1-4D97-BD3D-4C6A7C802E8A}" destId="{5C9EFD43-B3E9-4CC1-BAF0-16D305C0F504}" srcOrd="5" destOrd="0" presId="urn:microsoft.com/office/officeart/2005/8/layout/cycle5"/>
    <dgm:cxn modelId="{7DC4A810-FCDB-4F46-966B-0528A3AE0419}" type="presParOf" srcId="{2FC51317-58F1-4D97-BD3D-4C6A7C802E8A}" destId="{7CECF9CA-E2B2-438B-8BC9-57824DCAA88B}" srcOrd="6" destOrd="0" presId="urn:microsoft.com/office/officeart/2005/8/layout/cycle5"/>
    <dgm:cxn modelId="{6EADC819-535C-4569-A3B2-C04CADC541C4}" type="presParOf" srcId="{2FC51317-58F1-4D97-BD3D-4C6A7C802E8A}" destId="{5ABF3A3A-91E9-41A8-844A-DBA1FA93EA22}" srcOrd="7" destOrd="0" presId="urn:microsoft.com/office/officeart/2005/8/layout/cycle5"/>
    <dgm:cxn modelId="{99505B22-F476-407D-B189-F6CC3E0A36AD}" type="presParOf" srcId="{2FC51317-58F1-4D97-BD3D-4C6A7C802E8A}" destId="{74B06A32-CCF5-4259-90F5-0C8D2FA7F4C2}" srcOrd="8" destOrd="0" presId="urn:microsoft.com/office/officeart/2005/8/layout/cycle5"/>
    <dgm:cxn modelId="{CEC06911-D218-4A22-835D-A6236114652F}" type="presParOf" srcId="{2FC51317-58F1-4D97-BD3D-4C6A7C802E8A}" destId="{423C3E3D-5798-4D6E-8CE0-FB0CB6101895}" srcOrd="9" destOrd="0" presId="urn:microsoft.com/office/officeart/2005/8/layout/cycle5"/>
    <dgm:cxn modelId="{8173F7BF-B84D-4704-B734-AB839C95A153}" type="presParOf" srcId="{2FC51317-58F1-4D97-BD3D-4C6A7C802E8A}" destId="{3EA4C648-811E-4E86-8898-AB449BAF900A}" srcOrd="10" destOrd="0" presId="urn:microsoft.com/office/officeart/2005/8/layout/cycle5"/>
    <dgm:cxn modelId="{69C9C230-2806-47B9-90B0-54257B444D11}" type="presParOf" srcId="{2FC51317-58F1-4D97-BD3D-4C6A7C802E8A}" destId="{7D0086F0-E709-4CD4-A978-23AA7FC37CA2}" srcOrd="11" destOrd="0" presId="urn:microsoft.com/office/officeart/2005/8/layout/cycle5"/>
    <dgm:cxn modelId="{88AC2918-54CE-41B8-A0F0-6709C510453D}" type="presParOf" srcId="{2FC51317-58F1-4D97-BD3D-4C6A7C802E8A}" destId="{AF55F9A6-D549-481B-9371-B2ED2436751F}" srcOrd="12" destOrd="0" presId="urn:microsoft.com/office/officeart/2005/8/layout/cycle5"/>
    <dgm:cxn modelId="{0A1063CD-E496-45A4-A79E-4F8359ECDC65}" type="presParOf" srcId="{2FC51317-58F1-4D97-BD3D-4C6A7C802E8A}" destId="{9F70AFE8-E6B2-499E-BCB1-E9DBBA0DB8CD}" srcOrd="13" destOrd="0" presId="urn:microsoft.com/office/officeart/2005/8/layout/cycle5"/>
    <dgm:cxn modelId="{7ACC90DC-199B-467E-B48A-5A94A9401567}" type="presParOf" srcId="{2FC51317-58F1-4D97-BD3D-4C6A7C802E8A}" destId="{2482A93D-24C1-41B5-A2A2-BBF4C82F72BD}"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F535F2-FCF8-42D7-8390-CF9DAA45A9AD}">
      <dsp:nvSpPr>
        <dsp:cNvPr id="0" name=""/>
        <dsp:cNvSpPr/>
      </dsp:nvSpPr>
      <dsp:spPr>
        <a:xfrm>
          <a:off x="1143" y="653472"/>
          <a:ext cx="1766887" cy="70675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n-US" sz="1800" b="0" kern="1200" dirty="0">
              <a:solidFill>
                <a:schemeClr val="tx1">
                  <a:lumMod val="95000"/>
                  <a:lumOff val="5000"/>
                </a:schemeClr>
              </a:solidFill>
              <a:latin typeface="Calibri" panose="020F0502020204030204" pitchFamily="34" charset="0"/>
              <a:cs typeface="Calibri" panose="020F0502020204030204" pitchFamily="34" charset="0"/>
            </a:rPr>
            <a:t>Fast Grid</a:t>
          </a:r>
          <a:r>
            <a:rPr lang="en-US" sz="2000" b="0" kern="1200" dirty="0">
              <a:solidFill>
                <a:schemeClr val="tx1">
                  <a:lumMod val="95000"/>
                  <a:lumOff val="5000"/>
                </a:schemeClr>
              </a:solidFill>
              <a:latin typeface="Calibri" panose="020F0502020204030204" pitchFamily="34" charset="0"/>
              <a:cs typeface="Calibri" panose="020F0502020204030204" pitchFamily="34" charset="0"/>
            </a:rPr>
            <a:t> Control</a:t>
          </a:r>
        </a:p>
      </dsp:txBody>
      <dsp:txXfrm>
        <a:off x="354520" y="653472"/>
        <a:ext cx="1060133" cy="706754"/>
      </dsp:txXfrm>
    </dsp:sp>
    <dsp:sp modelId="{0F9BB1D7-C237-43E0-8998-09CFC850ED49}">
      <dsp:nvSpPr>
        <dsp:cNvPr id="0" name=""/>
        <dsp:cNvSpPr/>
      </dsp:nvSpPr>
      <dsp:spPr>
        <a:xfrm>
          <a:off x="1538335" y="713546"/>
          <a:ext cx="1466516" cy="586606"/>
        </a:xfrm>
        <a:prstGeom prst="chevron">
          <a:avLst/>
        </a:prstGeom>
        <a:solidFill>
          <a:srgbClr val="0070C0">
            <a:alpha val="90000"/>
          </a:srgb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n-US" sz="1300" b="1" kern="1200" dirty="0"/>
            <a:t>Managers</a:t>
          </a:r>
          <a:endParaRPr lang="en-US" sz="1300" kern="1200" dirty="0"/>
        </a:p>
      </dsp:txBody>
      <dsp:txXfrm>
        <a:off x="1831638" y="713546"/>
        <a:ext cx="879910" cy="586606"/>
      </dsp:txXfrm>
    </dsp:sp>
    <dsp:sp modelId="{D8AACD6D-117C-431A-9943-4620A932F0D8}">
      <dsp:nvSpPr>
        <dsp:cNvPr id="0" name=""/>
        <dsp:cNvSpPr/>
      </dsp:nvSpPr>
      <dsp:spPr>
        <a:xfrm>
          <a:off x="2799539" y="713546"/>
          <a:ext cx="1466516" cy="586606"/>
        </a:xfrm>
        <a:prstGeom prst="chevron">
          <a:avLst/>
        </a:prstGeom>
        <a:solidFill>
          <a:srgbClr val="0070C0">
            <a:alpha val="90000"/>
          </a:srgb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n-US" sz="1300" b="1" kern="1200" dirty="0"/>
            <a:t>Renderer</a:t>
          </a:r>
          <a:endParaRPr lang="en-US" sz="1300" kern="1200" dirty="0"/>
        </a:p>
      </dsp:txBody>
      <dsp:txXfrm>
        <a:off x="3092842" y="713546"/>
        <a:ext cx="879910" cy="586606"/>
      </dsp:txXfrm>
    </dsp:sp>
    <dsp:sp modelId="{362CC44A-2041-41C0-A2C3-734FE05F982B}">
      <dsp:nvSpPr>
        <dsp:cNvPr id="0" name=""/>
        <dsp:cNvSpPr/>
      </dsp:nvSpPr>
      <dsp:spPr>
        <a:xfrm>
          <a:off x="1143" y="1459172"/>
          <a:ext cx="1766887" cy="706754"/>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lumMod val="95000"/>
                  <a:lumOff val="5000"/>
                </a:schemeClr>
              </a:solidFill>
              <a:latin typeface="Calibri" panose="020F0502020204030204" pitchFamily="34" charset="0"/>
              <a:cs typeface="Calibri" panose="020F0502020204030204" pitchFamily="34" charset="0"/>
            </a:rPr>
            <a:t>Data / View</a:t>
          </a:r>
          <a:endParaRPr lang="en-US" sz="1800" kern="1200" dirty="0">
            <a:solidFill>
              <a:schemeClr val="tx1">
                <a:lumMod val="95000"/>
                <a:lumOff val="5000"/>
              </a:schemeClr>
            </a:solidFill>
            <a:latin typeface="Calibri" panose="020F0502020204030204" pitchFamily="34" charset="0"/>
            <a:cs typeface="Calibri" panose="020F0502020204030204" pitchFamily="34" charset="0"/>
          </a:endParaRPr>
        </a:p>
      </dsp:txBody>
      <dsp:txXfrm>
        <a:off x="354520" y="1459172"/>
        <a:ext cx="1060133" cy="706754"/>
      </dsp:txXfrm>
    </dsp:sp>
    <dsp:sp modelId="{EAB5201D-0C1A-4AD5-83DA-AA814D4D71F2}">
      <dsp:nvSpPr>
        <dsp:cNvPr id="0" name=""/>
        <dsp:cNvSpPr/>
      </dsp:nvSpPr>
      <dsp:spPr>
        <a:xfrm>
          <a:off x="1538335" y="1519247"/>
          <a:ext cx="1466516" cy="586606"/>
        </a:xfrm>
        <a:prstGeom prst="chevron">
          <a:avLst/>
        </a:prstGeom>
        <a:solidFill>
          <a:srgbClr val="0070C0">
            <a:alpha val="90000"/>
          </a:srgb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n-US" sz="1300" b="1" kern="1200" dirty="0"/>
            <a:t>Automation</a:t>
          </a:r>
          <a:endParaRPr lang="en-US" sz="1300" kern="1200" dirty="0"/>
        </a:p>
      </dsp:txBody>
      <dsp:txXfrm>
        <a:off x="1831638" y="1519247"/>
        <a:ext cx="879910" cy="586606"/>
      </dsp:txXfrm>
    </dsp:sp>
    <dsp:sp modelId="{EF0150B7-65DD-47D2-AC27-1259FCD9AF4C}">
      <dsp:nvSpPr>
        <dsp:cNvPr id="0" name=""/>
        <dsp:cNvSpPr/>
      </dsp:nvSpPr>
      <dsp:spPr>
        <a:xfrm>
          <a:off x="2799539" y="1519247"/>
          <a:ext cx="1466516" cy="586606"/>
        </a:xfrm>
        <a:prstGeom prst="chevron">
          <a:avLst/>
        </a:prstGeom>
        <a:solidFill>
          <a:srgbClr val="0070C0">
            <a:alpha val="90000"/>
          </a:srgb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8255" rIns="0" bIns="8255" numCol="1" spcCol="1270" anchor="ctr" anchorCtr="0">
          <a:noAutofit/>
        </a:bodyPr>
        <a:lstStyle/>
        <a:p>
          <a:pPr marL="0" lvl="0" indent="0" algn="ctr" defTabSz="577850">
            <a:lnSpc>
              <a:spcPct val="90000"/>
            </a:lnSpc>
            <a:spcBef>
              <a:spcPct val="0"/>
            </a:spcBef>
            <a:spcAft>
              <a:spcPct val="35000"/>
            </a:spcAft>
            <a:buNone/>
          </a:pPr>
          <a:r>
            <a:rPr lang="en-US" sz="1300" b="1" kern="1200" dirty="0"/>
            <a:t>SK Canvas</a:t>
          </a:r>
          <a:endParaRPr lang="en-US" sz="1300" kern="1200" dirty="0"/>
        </a:p>
      </dsp:txBody>
      <dsp:txXfrm>
        <a:off x="3092842" y="1519247"/>
        <a:ext cx="879910" cy="5866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7C98AE-DD54-4564-87C6-270AF972F3DC}">
      <dsp:nvSpPr>
        <dsp:cNvPr id="0" name=""/>
        <dsp:cNvSpPr/>
      </dsp:nvSpPr>
      <dsp:spPr>
        <a:xfrm>
          <a:off x="786593" y="352276"/>
          <a:ext cx="636612" cy="413797"/>
        </a:xfrm>
        <a:prstGeom prst="roundRect">
          <a:avLst/>
        </a:prstGeom>
        <a:solidFill>
          <a:srgbClr val="92D050"/>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solidFill>
                <a:schemeClr val="tx1">
                  <a:lumMod val="95000"/>
                  <a:lumOff val="5000"/>
                </a:schemeClr>
              </a:solidFill>
            </a:rPr>
            <a:t>Git Repo</a:t>
          </a:r>
          <a:endParaRPr lang="en-US" sz="1000" kern="1200" dirty="0">
            <a:solidFill>
              <a:schemeClr val="tx1">
                <a:lumMod val="95000"/>
                <a:lumOff val="5000"/>
              </a:schemeClr>
            </a:solidFill>
          </a:endParaRPr>
        </a:p>
      </dsp:txBody>
      <dsp:txXfrm>
        <a:off x="806793" y="372476"/>
        <a:ext cx="596212" cy="373397"/>
      </dsp:txXfrm>
    </dsp:sp>
    <dsp:sp modelId="{171B3B4A-D7F5-4B2E-AD9E-9376EDF95574}">
      <dsp:nvSpPr>
        <dsp:cNvPr id="0" name=""/>
        <dsp:cNvSpPr/>
      </dsp:nvSpPr>
      <dsp:spPr>
        <a:xfrm>
          <a:off x="278022" y="559175"/>
          <a:ext cx="1653755" cy="1653755"/>
        </a:xfrm>
        <a:custGeom>
          <a:avLst/>
          <a:gdLst/>
          <a:ahLst/>
          <a:cxnLst/>
          <a:rect l="0" t="0" r="0" b="0"/>
          <a:pathLst>
            <a:path>
              <a:moveTo>
                <a:pt x="1230505" y="105205"/>
              </a:moveTo>
              <a:arcTo wR="826877" hR="826877" stAng="17953086" swAng="1212094"/>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776565DF-D43B-4105-B2BC-FC9F481016BF}">
      <dsp:nvSpPr>
        <dsp:cNvPr id="0" name=""/>
        <dsp:cNvSpPr/>
      </dsp:nvSpPr>
      <dsp:spPr>
        <a:xfrm>
          <a:off x="1573001" y="923634"/>
          <a:ext cx="636612" cy="413797"/>
        </a:xfrm>
        <a:prstGeom prst="roundRect">
          <a:avLst/>
        </a:prstGeom>
        <a:solidFill>
          <a:srgbClr val="F86308"/>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solidFill>
                <a:schemeClr val="tx1">
                  <a:lumMod val="95000"/>
                  <a:lumOff val="5000"/>
                </a:schemeClr>
              </a:solidFill>
            </a:rPr>
            <a:t>CI/CD</a:t>
          </a:r>
          <a:endParaRPr lang="en-US" sz="1000" kern="1200" dirty="0">
            <a:solidFill>
              <a:schemeClr val="tx1">
                <a:lumMod val="95000"/>
                <a:lumOff val="5000"/>
              </a:schemeClr>
            </a:solidFill>
          </a:endParaRPr>
        </a:p>
      </dsp:txBody>
      <dsp:txXfrm>
        <a:off x="1593201" y="943834"/>
        <a:ext cx="596212" cy="373397"/>
      </dsp:txXfrm>
    </dsp:sp>
    <dsp:sp modelId="{5C9EFD43-B3E9-4CC1-BAF0-16D305C0F504}">
      <dsp:nvSpPr>
        <dsp:cNvPr id="0" name=""/>
        <dsp:cNvSpPr/>
      </dsp:nvSpPr>
      <dsp:spPr>
        <a:xfrm>
          <a:off x="278022" y="559175"/>
          <a:ext cx="1653755" cy="1653755"/>
        </a:xfrm>
        <a:custGeom>
          <a:avLst/>
          <a:gdLst/>
          <a:ahLst/>
          <a:cxnLst/>
          <a:rect l="0" t="0" r="0" b="0"/>
          <a:pathLst>
            <a:path>
              <a:moveTo>
                <a:pt x="1651774" y="884073"/>
              </a:moveTo>
              <a:arcTo wR="826877" hR="826877" stAng="21837980" swAng="1360155"/>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7CECF9CA-E2B2-438B-8BC9-57824DCAA88B}">
      <dsp:nvSpPr>
        <dsp:cNvPr id="0" name=""/>
        <dsp:cNvSpPr/>
      </dsp:nvSpPr>
      <dsp:spPr>
        <a:xfrm>
          <a:off x="1272620" y="1848111"/>
          <a:ext cx="636612" cy="413797"/>
        </a:xfrm>
        <a:prstGeom prst="roundRect">
          <a:avLst/>
        </a:prstGeom>
        <a:solidFill>
          <a:srgbClr val="FFC000"/>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solidFill>
                <a:schemeClr val="tx1">
                  <a:lumMod val="95000"/>
                  <a:lumOff val="5000"/>
                </a:schemeClr>
              </a:solidFill>
            </a:rPr>
            <a:t>NuGet Registry</a:t>
          </a:r>
          <a:endParaRPr lang="en-US" sz="1000" kern="1200" dirty="0">
            <a:solidFill>
              <a:schemeClr val="tx1">
                <a:lumMod val="95000"/>
                <a:lumOff val="5000"/>
              </a:schemeClr>
            </a:solidFill>
          </a:endParaRPr>
        </a:p>
      </dsp:txBody>
      <dsp:txXfrm>
        <a:off x="1292820" y="1868311"/>
        <a:ext cx="596212" cy="373397"/>
      </dsp:txXfrm>
    </dsp:sp>
    <dsp:sp modelId="{74B06A32-CCF5-4259-90F5-0C8D2FA7F4C2}">
      <dsp:nvSpPr>
        <dsp:cNvPr id="0" name=""/>
        <dsp:cNvSpPr/>
      </dsp:nvSpPr>
      <dsp:spPr>
        <a:xfrm>
          <a:off x="278022" y="559175"/>
          <a:ext cx="1653755" cy="1653755"/>
        </a:xfrm>
        <a:custGeom>
          <a:avLst/>
          <a:gdLst/>
          <a:ahLst/>
          <a:cxnLst/>
          <a:rect l="0" t="0" r="0" b="0"/>
          <a:pathLst>
            <a:path>
              <a:moveTo>
                <a:pt x="928424" y="1647496"/>
              </a:moveTo>
              <a:arcTo wR="826877" hR="826877" stAng="4976749" swAng="846502"/>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423C3E3D-5798-4D6E-8CE0-FB0CB6101895}">
      <dsp:nvSpPr>
        <dsp:cNvPr id="0" name=""/>
        <dsp:cNvSpPr/>
      </dsp:nvSpPr>
      <dsp:spPr>
        <a:xfrm>
          <a:off x="300567" y="1848111"/>
          <a:ext cx="636612" cy="413797"/>
        </a:xfrm>
        <a:prstGeom prst="roundRect">
          <a:avLst/>
        </a:prstGeom>
        <a:solidFill>
          <a:srgbClr val="0070C0"/>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solidFill>
                <a:schemeClr val="tx1">
                  <a:lumMod val="95000"/>
                  <a:lumOff val="5000"/>
                </a:schemeClr>
              </a:solidFill>
            </a:rPr>
            <a:t>Telemetry</a:t>
          </a:r>
        </a:p>
      </dsp:txBody>
      <dsp:txXfrm>
        <a:off x="320767" y="1868311"/>
        <a:ext cx="596212" cy="373397"/>
      </dsp:txXfrm>
    </dsp:sp>
    <dsp:sp modelId="{7D0086F0-E709-4CD4-A978-23AA7FC37CA2}">
      <dsp:nvSpPr>
        <dsp:cNvPr id="0" name=""/>
        <dsp:cNvSpPr/>
      </dsp:nvSpPr>
      <dsp:spPr>
        <a:xfrm>
          <a:off x="278022" y="559175"/>
          <a:ext cx="1653755" cy="1653755"/>
        </a:xfrm>
        <a:custGeom>
          <a:avLst/>
          <a:gdLst/>
          <a:ahLst/>
          <a:cxnLst/>
          <a:rect l="0" t="0" r="0" b="0"/>
          <a:pathLst>
            <a:path>
              <a:moveTo>
                <a:pt x="87751" y="1197578"/>
              </a:moveTo>
              <a:arcTo wR="826877" hR="826877" stAng="9201865" swAng="1360155"/>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AF55F9A6-D549-481B-9371-B2ED2436751F}">
      <dsp:nvSpPr>
        <dsp:cNvPr id="0" name=""/>
        <dsp:cNvSpPr/>
      </dsp:nvSpPr>
      <dsp:spPr>
        <a:xfrm>
          <a:off x="186" y="923634"/>
          <a:ext cx="636612" cy="413797"/>
        </a:xfrm>
        <a:prstGeom prst="roundRect">
          <a:avLst/>
        </a:prstGeom>
        <a:solidFill>
          <a:schemeClr val="bg1">
            <a:lumMod val="5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solidFill>
                <a:schemeClr val="tx1">
                  <a:lumMod val="95000"/>
                  <a:lumOff val="5000"/>
                </a:schemeClr>
              </a:solidFill>
            </a:rPr>
            <a:t>Metrics / Logs</a:t>
          </a:r>
          <a:endParaRPr lang="en-US" sz="1000" kern="1200" dirty="0">
            <a:solidFill>
              <a:schemeClr val="tx1">
                <a:lumMod val="95000"/>
                <a:lumOff val="5000"/>
              </a:schemeClr>
            </a:solidFill>
          </a:endParaRPr>
        </a:p>
      </dsp:txBody>
      <dsp:txXfrm>
        <a:off x="20386" y="943834"/>
        <a:ext cx="596212" cy="373397"/>
      </dsp:txXfrm>
    </dsp:sp>
    <dsp:sp modelId="{2482A93D-24C1-41B5-A2A2-BBF4C82F72BD}">
      <dsp:nvSpPr>
        <dsp:cNvPr id="0" name=""/>
        <dsp:cNvSpPr/>
      </dsp:nvSpPr>
      <dsp:spPr>
        <a:xfrm>
          <a:off x="278022" y="559175"/>
          <a:ext cx="1653755" cy="1653755"/>
        </a:xfrm>
        <a:custGeom>
          <a:avLst/>
          <a:gdLst/>
          <a:ahLst/>
          <a:cxnLst/>
          <a:rect l="0" t="0" r="0" b="0"/>
          <a:pathLst>
            <a:path>
              <a:moveTo>
                <a:pt x="198868" y="288982"/>
              </a:moveTo>
              <a:arcTo wR="826877" hR="826877" stAng="13234821" swAng="1212094"/>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E16272-617E-4DAF-98A7-1E249FC6E62B}" type="datetimeFigureOut">
              <a:rPr lang="en-US" smtClean="0"/>
              <a:pPr/>
              <a:t>9/11/2026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3306E6-DC10-44A3-83DD-EDA3C03FF55B}" type="slidenum">
              <a:rPr lang="en-US" smtClean="0"/>
              <a:pPr/>
              <a:t>‹#›</a:t>
            </a:fld>
            <a:endParaRPr lang="en-US"/>
          </a:p>
        </p:txBody>
      </p:sp>
    </p:spTree>
    <p:extLst>
      <p:ext uri="{BB962C8B-B14F-4D97-AF65-F5344CB8AC3E}">
        <p14:creationId xmlns:p14="http://schemas.microsoft.com/office/powerpoint/2010/main" val="3216031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direct: we over-delivered on the library and the pipeline, and deliberately deferred the cloud dashboard. The reason the feature set grew is that you cannot benchmark a renderer honestly without triggers, grouping and live updates inside the workload.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here is free or student-licensed, which is what the Budget slide claims. SkiaSharp is the only substantive third-party runtime dependency.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plan is taken straight from the signed sign-off sheet, so every date and agenda item is verifiable - do not paraphrase it on the spot.</a:t>
            </a:r>
          </a:p>
          <a:p>
            <a:r>
              <a:t>Phase gates: M2 stack confirmed, M4 SRS signed off, M6 architecture and CI/CD design signed off, M8 presentation and PoC demo to the panel.</a:t>
            </a:r>
          </a:p>
          <a:p>
            <a:r>
              <a:t>The Gantt chart two slides later is the same plan drawn against those eight meetings.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VERIFY THESE ASSIGNMENTS BEFORE THE DEFENSE - this is a draft derived from the code structure, not a record of who did what. Every row has exactly one A, which is the rule examiners check.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plan drawn against the eight signed meetings, 16 May to 18 July 2026. Diamonds M1-M8 are the meetings, all held and signed. Point at the Phase 4 band: that is where the benchmark, the 552 tests and the NuGet release land.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SampleApplicationV2 - it opens on DemoWindow with seven tabs.</a:t>
            </a:r>
          </a:p>
          <a:p>
            <a:r>
              <a:t>1) 100K Stress Test -&gt; press 100,000, read the numbers, scroll, then press 1,000,000 and show the SAME frame time. That is the whole thesis in one click.</a:t>
            </a:r>
          </a:p>
          <a:p>
            <a:r>
              <a:t>2) Tick 'Live ticks' - 2,000 rows change every 100 ms and it still holds.</a:t>
            </a:r>
          </a:p>
          <a:p>
            <a:r>
              <a:t>3) All Features tab -&gt; ApplyGroup, ExpandAllRows, GetAllPercentiles, header theming.</a:t>
            </a:r>
          </a:p>
          <a:p>
            <a:r>
              <a:t>4) Multi-Window Test -&gt; 'Tile 4 Windows'.</a:t>
            </a:r>
          </a:p>
          <a:p>
            <a:r>
              <a:t>5) Row Drag -&gt; open the drop-target window and drag rows out.</a:t>
            </a:r>
          </a:p>
          <a:p>
            <a:r>
              <a:t>6) Test Explorer -&gt; 552 green.</a:t>
            </a:r>
          </a:p>
          <a:p>
            <a:r>
              <a:t>Say plainly that the rubric milestone was 30% and the delivered work exceeds 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lanes: developer workstation, GitHub, the Actions runner, the NuGet registry, and the consumer application. The decision diamond is the gate that matters - a red test run blocks the PR, so nothing unpublished ever reaches the package feed.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layers plus cross-cutting concerns. The one sentence that matters: the grid body contains ZERO WPF visual elements. The WPF DataGrid is kept ONLY for the column header band; everything below the header is pixels on a single SKElement canvas.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Meeting-5 deliverable. Filled diamonds are composition - the grid owns each manager and renderer and disposes them. The point to make: every manager and renderer is a plain class with no WPF dependency, which is exactly what makes 552 unit tests possible on a rendering control.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Meeting-5 deliverable. One frame, fourteen messages. The only step that touches the dataset size is step 5, and that is arithmetic on the scroll offset - it never walks the rows. Steps 6 to 10 run once per VISIBLE cell, about 250 per frame, which is why the frame time is identical at 100,000 and 1,000,000 rows.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external entities. Because FastGrid is a LIBRARY, the host WPF application (the consumer developer) is an external entity in its own right, separate from the end user.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Thirteen processes and nine data stores, in three bands: top is the data pipeline (1.0 -&gt; 2.0 -&gt; 3.0 -&gt; 7.0), middle is user interaction, bottom is integration and diagnostics. D4 appears twice - the standard DFD convention for a repeated store, marked with an asterisk.</a:t>
            </a:r>
          </a:p>
          <a:p>
            <a:r>
              <a:t>Level 2 explosions of process 2.0 and 7.0 are in FastGrid_DFD.drawio as backup.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loops. The red render loop runs per frame and touches only the viewport. The blue data loop runs per source change and is coalesced to at most one rebuild per frame, so a 1,000-tick-per-second feed cannot flood 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 100,000 rows, 2.59 ms average frame time, 4.00 ms p95, 250 cells drawn per frame, 31 MB. Bottom: the same readout at 1,000,000 rows - 2.75 ms. Identical cost at ten times the data.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grouping with all six aggregations, tree child rows, bracketed negative numbers, acronym number formats, checkbox columns, and the live GetAllPercentiles readout in the event log. Right: custom header theming plus value and text filters applied.</a:t>
            </a:r>
          </a:p>
          <a:p>
            <a:r>
              <a:t>Every control on the left panel drives a real public property, method, event or command - this tab exists so no part of the API is undemonstrated.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the Performance Dashboard - 17 timed operations against per-operation budgets, plus cells-drawn, triggers-evaluated, paint-cache hit/miss and reflection counters. The metrics table is itself rendered by SkiaGridViewV2. Right: filters, sorting, grouping, checkbox columns, custom-drawn trend cells and in-cell action buttons in one view.</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independently streaming grids with four independent selections: Watchlist with timer-based change highlighting, the Time &amp; Sales tape at compact density, Trading Monitor with spread legs as tree child rows and status-driven row triggers, and an Options Chain with ITM highlighting and greeks. Per-instance renderer state and refcounted paint caches.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row drag-and-drop with the drop-target window open - a real WPF DragDrop carrying live row objects plus tab-separated text, so the payload also pastes into Excel or Notepad. Right: the scroll-bar gutter harness, which reports live measurements and a PASS verdict on both sides of the Auto-visibility threshold - a defect fixed with evidence, not by eye.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FYP-II headline. The honest framing: we are already inside the 5 ms budget, so dirty rectangles are not about hitting a target we are missing - they are about cutting the cost of a frame that is mostly unchanged, which is exactly the streaming-market-data case.</a:t>
            </a:r>
          </a:p>
          <a:p>
            <a:r>
              <a:t>If asked why it was not done now: it needs a per-cell change-tracking pipeline that the current design deliberately does not have, because re-reading every visible cell each frame is what keeps the renderer stateless and testable.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FR-1 to FR-5 are the core grid contract, each mapping to a manager class in the architecture diagram.</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FR-6 to FR-10 are the features added beyond the original 30% proof-of-concept scope. All of them are demonstrated in the All Features tab.</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NFR-1 and NFR-2 are the measurable ones and the benchmark screenshots are the evidence. NFR-2 is the architectural claim: frame time is flat from 1,000 to 1,000,000 rows.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r>
              <a:rPr lang="en-US"/>
              <a:t>CS-FYP    Hamdard University </a:t>
            </a:r>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r>
              <a:rPr lang="en-US"/>
              <a:t>Project Name Here</a:t>
            </a: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9EBC64C3-3FC7-4C40-910B-2643F037F02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7616952" cy="990600"/>
          </a:xfrm>
        </p:spPr>
        <p:txBody>
          <a:bodyPr/>
          <a:lstStyle/>
          <a:p>
            <a:r>
              <a:rPr kumimoji="0" lang="en-US"/>
              <a:t>Click to edit Master title style</a:t>
            </a:r>
          </a:p>
        </p:txBody>
      </p:sp>
      <p:sp>
        <p:nvSpPr>
          <p:cNvPr id="4" name="Date Placeholder 3"/>
          <p:cNvSpPr>
            <a:spLocks noGrp="1"/>
          </p:cNvSpPr>
          <p:nvPr>
            <p:ph type="dt" sz="half" idx="10"/>
          </p:nvPr>
        </p:nvSpPr>
        <p:spPr>
          <a:xfrm>
            <a:off x="6248400" y="6400800"/>
            <a:ext cx="2514600" cy="304800"/>
          </a:xfrm>
          <a:solidFill>
            <a:srgbClr val="008000"/>
          </a:solidFill>
        </p:spPr>
        <p:txBody>
          <a:bodyPr/>
          <a:lstStyle>
            <a:lvl1pPr algn="r">
              <a:defRPr b="0">
                <a:solidFill>
                  <a:schemeClr val="bg1"/>
                </a:solidFill>
              </a:defRPr>
            </a:lvl1pPr>
          </a:lstStyle>
          <a:p>
            <a:r>
              <a:rPr lang="en-US"/>
              <a:t>CS-FYP    Hamdard University </a:t>
            </a:r>
            <a:endParaRPr lang="en-US" dirty="0"/>
          </a:p>
        </p:txBody>
      </p:sp>
      <p:sp>
        <p:nvSpPr>
          <p:cNvPr id="5" name="Footer Placeholder 4"/>
          <p:cNvSpPr>
            <a:spLocks noGrp="1"/>
          </p:cNvSpPr>
          <p:nvPr>
            <p:ph type="ftr" sz="quarter" idx="11"/>
          </p:nvPr>
        </p:nvSpPr>
        <p:spPr>
          <a:xfrm>
            <a:off x="609601" y="6400800"/>
            <a:ext cx="5410200" cy="288925"/>
          </a:xfrm>
          <a:solidFill>
            <a:srgbClr val="F86308"/>
          </a:solidFill>
        </p:spPr>
        <p:txBody>
          <a:bodyPr/>
          <a:lstStyle>
            <a:lvl1pPr algn="l">
              <a:defRPr b="0">
                <a:solidFill>
                  <a:schemeClr val="bg1"/>
                </a:solidFill>
              </a:defRPr>
            </a:lvl1pPr>
          </a:lstStyle>
          <a:p>
            <a:r>
              <a:rPr lang="en-US"/>
              <a:t>Project Name Here</a:t>
            </a:r>
            <a:endParaRPr lang="en-US" dirty="0"/>
          </a:p>
        </p:txBody>
      </p:sp>
      <p:sp>
        <p:nvSpPr>
          <p:cNvPr id="6" name="Slide Number Placeholder 5"/>
          <p:cNvSpPr>
            <a:spLocks noGrp="1"/>
          </p:cNvSpPr>
          <p:nvPr>
            <p:ph type="sldNum" sz="quarter" idx="12"/>
          </p:nvPr>
        </p:nvSpPr>
        <p:spPr>
          <a:xfrm>
            <a:off x="0" y="1279524"/>
            <a:ext cx="533400" cy="244476"/>
          </a:xfrm>
          <a:solidFill>
            <a:srgbClr val="008000"/>
          </a:solidFill>
        </p:spPr>
        <p:txBody>
          <a:bodyPr>
            <a:noAutofit/>
          </a:bodyPr>
          <a:lstStyle>
            <a:lvl1pPr>
              <a:defRPr sz="1800" b="1">
                <a:solidFill>
                  <a:srgbClr val="FFFFFF"/>
                </a:solidFill>
              </a:defRPr>
            </a:lvl1pPr>
          </a:lstStyle>
          <a:p>
            <a:fld id="{9EBC64C3-3FC7-4C40-910B-2643F037F02C}" type="slidenum">
              <a:rPr lang="en-US" smtClean="0"/>
              <a:pPr/>
              <a:t>‹#›</a:t>
            </a:fld>
            <a:endParaRPr lang="en-US" dirty="0"/>
          </a:p>
        </p:txBody>
      </p:sp>
      <p:sp>
        <p:nvSpPr>
          <p:cNvPr id="8" name="Content Placeholder 7"/>
          <p:cNvSpPr>
            <a:spLocks noGrp="1"/>
          </p:cNvSpPr>
          <p:nvPr>
            <p:ph sz="quarter" idx="1"/>
          </p:nvPr>
        </p:nvSpPr>
        <p:spPr>
          <a:xfrm>
            <a:off x="612648" y="1600200"/>
            <a:ext cx="8153400" cy="4495800"/>
          </a:xfrm>
        </p:spPr>
        <p:txBody>
          <a:bodyPr/>
          <a:lstStyle>
            <a:lvl1pPr>
              <a:buClr>
                <a:srgbClr val="008000"/>
              </a:buClr>
              <a:defRPr/>
            </a:lvl1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05800" y="381000"/>
            <a:ext cx="732241" cy="638664"/>
          </a:xfrm>
          <a:prstGeom prst="rect">
            <a:avLst/>
          </a:prstGeom>
        </p:spPr>
      </p:pic>
      <p:sp>
        <p:nvSpPr>
          <p:cNvPr id="7" name="Rectangle 6"/>
          <p:cNvSpPr/>
          <p:nvPr userDrawn="1"/>
        </p:nvSpPr>
        <p:spPr>
          <a:xfrm>
            <a:off x="609600" y="1295400"/>
            <a:ext cx="8534400" cy="228600"/>
          </a:xfrm>
          <a:prstGeom prst="rect">
            <a:avLst/>
          </a:prstGeom>
          <a:solidFill>
            <a:srgbClr val="F86308"/>
          </a:solidFill>
          <a:ln>
            <a:solidFill>
              <a:srgbClr val="F863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52599" y="2743200"/>
            <a:ext cx="6742113" cy="1676400"/>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rgbClr val="008000"/>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rgbClr val="F86308"/>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a:solidFill>
            <a:srgbClr val="008000"/>
          </a:solidFill>
        </p:spPr>
        <p:txBody>
          <a:bodyPr/>
          <a:lstStyle>
            <a:lvl1pPr algn="r">
              <a:defRPr>
                <a:solidFill>
                  <a:schemeClr val="bg1"/>
                </a:solidFill>
              </a:defRPr>
            </a:lvl1pPr>
          </a:lstStyle>
          <a:p>
            <a:r>
              <a:rPr lang="en-US"/>
              <a:t>CS-FYP    Hamdard University </a:t>
            </a:r>
            <a:endParaRPr lang="en-US"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9EBC64C3-3FC7-4C40-910B-2643F037F02C}" type="slidenum">
              <a:rPr lang="en-US" smtClean="0"/>
              <a:pPr/>
              <a:t>‹#›</a:t>
            </a:fld>
            <a:endParaRPr lang="en-US" dirty="0"/>
          </a:p>
        </p:txBody>
      </p:sp>
      <p:sp>
        <p:nvSpPr>
          <p:cNvPr id="14" name="Footer Placeholder 13"/>
          <p:cNvSpPr>
            <a:spLocks noGrp="1"/>
          </p:cNvSpPr>
          <p:nvPr>
            <p:ph type="ftr" sz="quarter" idx="12"/>
          </p:nvPr>
        </p:nvSpPr>
        <p:spPr>
          <a:solidFill>
            <a:srgbClr val="F86308"/>
          </a:solidFill>
        </p:spPr>
        <p:txBody>
          <a:bodyPr/>
          <a:lstStyle>
            <a:lvl1pPr algn="l">
              <a:defRPr>
                <a:solidFill>
                  <a:schemeClr val="bg1"/>
                </a:solidFill>
              </a:defRPr>
            </a:lvl1pPr>
          </a:lstStyle>
          <a:p>
            <a:r>
              <a:rPr lang="en-US"/>
              <a:t>Project Name Here</a:t>
            </a: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8601" y="3899346"/>
            <a:ext cx="1295400" cy="1129854"/>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Slide Number Placeholder 9"/>
          <p:cNvSpPr>
            <a:spLocks noGrp="1"/>
          </p:cNvSpPr>
          <p:nvPr>
            <p:ph type="sldNum" sz="quarter" idx="16"/>
          </p:nvPr>
        </p:nvSpPr>
        <p:spPr/>
        <p:txBody>
          <a:bodyPr rtlCol="0"/>
          <a:lstStyle/>
          <a:p>
            <a:fld id="{9EBC64C3-3FC7-4C40-910B-2643F037F02C}" type="slidenum">
              <a:rPr lang="en-US" smtClean="0"/>
              <a:pPr/>
              <a:t>‹#›</a:t>
            </a:fld>
            <a:endParaRPr lang="en-US"/>
          </a:p>
        </p:txBody>
      </p:sp>
      <p:sp>
        <p:nvSpPr>
          <p:cNvPr id="13" name="Footer Placeholder 13"/>
          <p:cNvSpPr txBox="1">
            <a:spLocks/>
          </p:cNvSpPr>
          <p:nvPr userDrawn="1"/>
        </p:nvSpPr>
        <p:spPr>
          <a:xfrm>
            <a:off x="609600" y="6400606"/>
            <a:ext cx="5421083" cy="365125"/>
          </a:xfrm>
          <a:prstGeom prst="rect">
            <a:avLst/>
          </a:prstGeom>
          <a:solidFill>
            <a:srgbClr val="F86308"/>
          </a:solidFill>
        </p:spPr>
        <p:txBody>
          <a:bodyPr vert="horz" anchor="ctr"/>
          <a:lstStyle>
            <a:defPPr>
              <a:defRPr lang="en-US"/>
            </a:defPPr>
            <a:lvl1pPr marL="0" algn="l" defTabSz="914400" rtl="0" eaLnBrk="1" latinLnBrk="0" hangingPunct="1">
              <a:defRPr kumimoji="0" sz="1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Project name here</a:t>
            </a:r>
            <a:endParaRPr lang="en-US" dirty="0"/>
          </a:p>
        </p:txBody>
      </p:sp>
      <p:sp>
        <p:nvSpPr>
          <p:cNvPr id="15" name="Date Placeholder 11"/>
          <p:cNvSpPr>
            <a:spLocks noGrp="1"/>
          </p:cNvSpPr>
          <p:nvPr>
            <p:ph type="dt" sz="half" idx="10"/>
          </p:nvPr>
        </p:nvSpPr>
        <p:spPr>
          <a:xfrm>
            <a:off x="6096000" y="6416675"/>
            <a:ext cx="2667000" cy="365125"/>
          </a:xfrm>
          <a:solidFill>
            <a:srgbClr val="008000"/>
          </a:solidFill>
        </p:spPr>
        <p:txBody>
          <a:bodyPr/>
          <a:lstStyle>
            <a:lvl1pPr algn="r">
              <a:defRPr>
                <a:solidFill>
                  <a:schemeClr val="bg1"/>
                </a:solidFill>
              </a:defRPr>
            </a:lvl1pPr>
          </a:lstStyle>
          <a:p>
            <a:r>
              <a:rPr lang="en-US"/>
              <a:t>CS-FYP    Hamdard University </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r>
              <a:rPr lang="en-US"/>
              <a:t>CS-FYP    Hamdard University </a:t>
            </a:r>
          </a:p>
        </p:txBody>
      </p:sp>
      <p:sp>
        <p:nvSpPr>
          <p:cNvPr id="12" name="Slide Number Placeholder 11"/>
          <p:cNvSpPr>
            <a:spLocks noGrp="1"/>
          </p:cNvSpPr>
          <p:nvPr>
            <p:ph type="sldNum" sz="quarter" idx="16"/>
          </p:nvPr>
        </p:nvSpPr>
        <p:spPr/>
        <p:txBody>
          <a:bodyPr rtlCol="0"/>
          <a:lstStyle/>
          <a:p>
            <a:fld id="{9EBC64C3-3FC7-4C40-910B-2643F037F02C}" type="slidenum">
              <a:rPr lang="en-US" smtClean="0"/>
              <a:pPr/>
              <a:t>‹#›</a:t>
            </a:fld>
            <a:endParaRPr lang="en-US"/>
          </a:p>
        </p:txBody>
      </p:sp>
      <p:sp>
        <p:nvSpPr>
          <p:cNvPr id="14" name="Footer Placeholder 13"/>
          <p:cNvSpPr>
            <a:spLocks noGrp="1"/>
          </p:cNvSpPr>
          <p:nvPr>
            <p:ph type="ftr" sz="quarter" idx="17"/>
          </p:nvPr>
        </p:nvSpPr>
        <p:spPr/>
        <p:txBody>
          <a:bodyPr rtlCol="0"/>
          <a:lstStyle/>
          <a:p>
            <a:r>
              <a:rPr lang="en-US"/>
              <a:t>Project Name Here</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r>
              <a:rPr lang="en-US"/>
              <a:t>CS-FYP    Hamdard University </a:t>
            </a:r>
          </a:p>
        </p:txBody>
      </p:sp>
      <p:sp>
        <p:nvSpPr>
          <p:cNvPr id="4" name="Footer Placeholder 3"/>
          <p:cNvSpPr>
            <a:spLocks noGrp="1"/>
          </p:cNvSpPr>
          <p:nvPr>
            <p:ph type="ftr" sz="quarter" idx="11"/>
          </p:nvPr>
        </p:nvSpPr>
        <p:spPr/>
        <p:txBody>
          <a:bodyPr/>
          <a:lstStyle/>
          <a:p>
            <a:r>
              <a:rPr lang="en-US"/>
              <a:t>Project Name Here</a:t>
            </a:r>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9EBC64C3-3FC7-4C40-910B-2643F037F02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CS-FYP    Hamdard University </a:t>
            </a:r>
          </a:p>
        </p:txBody>
      </p:sp>
      <p:sp>
        <p:nvSpPr>
          <p:cNvPr id="3" name="Footer Placeholder 2"/>
          <p:cNvSpPr>
            <a:spLocks noGrp="1"/>
          </p:cNvSpPr>
          <p:nvPr>
            <p:ph type="ftr" sz="quarter" idx="11"/>
          </p:nvPr>
        </p:nvSpPr>
        <p:spPr/>
        <p:txBody>
          <a:bodyPr/>
          <a:lstStyle/>
          <a:p>
            <a:r>
              <a:rPr lang="en-US"/>
              <a:t>Project Name Here</a:t>
            </a: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9EBC64C3-3FC7-4C40-910B-2643F037F02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r>
              <a:rPr lang="en-US"/>
              <a:t>CS-FYP    Hamdard University </a:t>
            </a:r>
          </a:p>
        </p:txBody>
      </p:sp>
      <p:sp>
        <p:nvSpPr>
          <p:cNvPr id="6" name="Footer Placeholder 5"/>
          <p:cNvSpPr>
            <a:spLocks noGrp="1"/>
          </p:cNvSpPr>
          <p:nvPr>
            <p:ph type="ftr" sz="quarter" idx="11"/>
          </p:nvPr>
        </p:nvSpPr>
        <p:spPr/>
        <p:txBody>
          <a:bodyPr/>
          <a:lstStyle/>
          <a:p>
            <a:r>
              <a:rPr lang="en-US"/>
              <a:t>Project Name Here</a:t>
            </a:r>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9EBC64C3-3FC7-4C40-910B-2643F037F02C}"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r>
              <a:rPr lang="en-US"/>
              <a:t>CS-FYP    Hamdard University </a:t>
            </a:r>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9EBC64C3-3FC7-4C40-910B-2643F037F02C}"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r>
              <a:rPr lang="en-US"/>
              <a:t>Project Name Here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CS-FYP    Hamdard University </a:t>
            </a:r>
          </a:p>
        </p:txBody>
      </p:sp>
      <p:sp>
        <p:nvSpPr>
          <p:cNvPr id="5" name="Footer Placeholder 4"/>
          <p:cNvSpPr>
            <a:spLocks noGrp="1"/>
          </p:cNvSpPr>
          <p:nvPr>
            <p:ph type="ftr" sz="quarter" idx="11"/>
          </p:nvPr>
        </p:nvSpPr>
        <p:spPr/>
        <p:txBody>
          <a:bodyPr/>
          <a:lstStyle/>
          <a:p>
            <a:r>
              <a:rPr lang="en-US"/>
              <a:t>Project Name Here</a:t>
            </a:r>
          </a:p>
        </p:txBody>
      </p:sp>
      <p:sp>
        <p:nvSpPr>
          <p:cNvPr id="6" name="Slide Number Placeholder 5"/>
          <p:cNvSpPr>
            <a:spLocks noGrp="1"/>
          </p:cNvSpPr>
          <p:nvPr>
            <p:ph type="sldNum" sz="quarter" idx="12"/>
          </p:nvPr>
        </p:nvSpPr>
        <p:spPr/>
        <p:txBody>
          <a:bodyPr/>
          <a:lstStyle/>
          <a:p>
            <a:fld id="{9EBC64C3-3FC7-4C40-910B-2643F037F02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r>
              <a:rPr lang="en-US"/>
              <a:t>CS-FYP    Hamdard University </a:t>
            </a:r>
          </a:p>
        </p:txBody>
      </p:sp>
      <p:sp>
        <p:nvSpPr>
          <p:cNvPr id="5" name="Footer Placeholder 4"/>
          <p:cNvSpPr>
            <a:spLocks noGrp="1"/>
          </p:cNvSpPr>
          <p:nvPr>
            <p:ph type="ftr" sz="quarter" idx="11"/>
          </p:nvPr>
        </p:nvSpPr>
        <p:spPr>
          <a:xfrm>
            <a:off x="457201" y="6248207"/>
            <a:ext cx="5573483" cy="365125"/>
          </a:xfrm>
        </p:spPr>
        <p:txBody>
          <a:bodyPr/>
          <a:lstStyle/>
          <a:p>
            <a:r>
              <a:rPr lang="en-US"/>
              <a:t>Project Name Here</a:t>
            </a:r>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9EBC64C3-3FC7-4C40-910B-2643F037F02C}"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r>
              <a:rPr lang="en-US"/>
              <a:t>CS-FYP    Hamdard University </a:t>
            </a: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r>
              <a:rPr lang="en-US"/>
              <a:t>Project Name Here</a:t>
            </a: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9EBC64C3-3FC7-4C40-910B-2643F037F02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EBC64C3-3FC7-4C40-910B-2643F037F02C}" type="slidenum">
              <a:rPr lang="en-US" smtClean="0"/>
              <a:pPr/>
              <a:t>1</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04436" y="2133600"/>
            <a:ext cx="6339563" cy="2320117"/>
          </a:xfrm>
          <a:prstGeom prst="rect">
            <a:avLst/>
          </a:prstGeom>
        </p:spPr>
      </p:pic>
      <p:sp>
        <p:nvSpPr>
          <p:cNvPr id="6" name="Rectangle 5"/>
          <p:cNvSpPr/>
          <p:nvPr/>
        </p:nvSpPr>
        <p:spPr>
          <a:xfrm>
            <a:off x="2804436" y="1066800"/>
            <a:ext cx="6339563" cy="1066800"/>
          </a:xfrm>
          <a:prstGeom prst="rect">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200" b="1" dirty="0" err="1"/>
              <a:t>FastGrid</a:t>
            </a:r>
            <a:endParaRPr sz="3200" b="1" dirty="0"/>
          </a:p>
        </p:txBody>
      </p:sp>
      <p:sp>
        <p:nvSpPr>
          <p:cNvPr id="7" name="TextBox 6"/>
          <p:cNvSpPr txBox="1"/>
          <p:nvPr/>
        </p:nvSpPr>
        <p:spPr>
          <a:xfrm>
            <a:off x="0" y="6019800"/>
            <a:ext cx="5465618" cy="830997"/>
          </a:xfrm>
          <a:prstGeom prst="rect">
            <a:avLst/>
          </a:prstGeom>
          <a:solidFill>
            <a:srgbClr val="008000"/>
          </a:solidFill>
        </p:spPr>
        <p:txBody>
          <a:bodyPr wrap="square" rtlCol="0">
            <a:spAutoFit/>
          </a:bodyPr>
          <a:lstStyle/>
          <a:p>
            <a:pPr algn="ctr"/>
            <a:r>
              <a:rPr lang="en-US" sz="2000" dirty="0">
                <a:solidFill>
                  <a:schemeClr val="bg1"/>
                </a:solidFill>
              </a:rPr>
              <a:t>Department of Information Technology, FEST</a:t>
            </a:r>
          </a:p>
          <a:p>
            <a:pPr algn="ctr"/>
            <a:r>
              <a:rPr lang="en-US" sz="2800" dirty="0" err="1">
                <a:solidFill>
                  <a:schemeClr val="bg1"/>
                </a:solidFill>
              </a:rPr>
              <a:t>Hamdard</a:t>
            </a:r>
            <a:r>
              <a:rPr lang="en-US" sz="2800" baseline="0" dirty="0">
                <a:solidFill>
                  <a:schemeClr val="bg1"/>
                </a:solidFill>
              </a:rPr>
              <a:t> University </a:t>
            </a:r>
            <a:r>
              <a:rPr lang="en-US" sz="2800" dirty="0">
                <a:solidFill>
                  <a:schemeClr val="bg1"/>
                </a:solidFill>
              </a:rPr>
              <a:t>  </a:t>
            </a: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6027" y="2438400"/>
            <a:ext cx="1572567" cy="1371600"/>
          </a:xfrm>
          <a:prstGeom prst="rect">
            <a:avLst/>
          </a:prstGeom>
        </p:spPr>
      </p:pic>
      <p:sp>
        <p:nvSpPr>
          <p:cNvPr id="9" name="TextBox 8"/>
          <p:cNvSpPr txBox="1"/>
          <p:nvPr/>
        </p:nvSpPr>
        <p:spPr>
          <a:xfrm>
            <a:off x="4894118" y="4756295"/>
            <a:ext cx="3886200" cy="923330"/>
          </a:xfrm>
          <a:prstGeom prst="rect">
            <a:avLst/>
          </a:prstGeom>
          <a:noFill/>
        </p:spPr>
        <p:txBody>
          <a:bodyPr wrap="square" rtlCol="0">
            <a:spAutoFit/>
          </a:bodyPr>
          <a:lstStyle/>
          <a:p>
            <a:pPr marL="285750" indent="-285750">
              <a:buFont typeface="Wingdings" panose="05000000000000000000" pitchFamily="2" charset="2"/>
              <a:buChar char="Ø"/>
            </a:pPr>
            <a:r>
              <a:rPr sz="1800" b="0" dirty="0">
                <a:latin typeface="Calibri" panose="020F0502020204030204" pitchFamily="34" charset="0"/>
                <a:cs typeface="Calibri" panose="020F0502020204030204" pitchFamily="34" charset="0"/>
              </a:rPr>
              <a:t>Bilal Ahmed Siddiqui</a:t>
            </a:r>
            <a:endParaRPr lang="en-US" sz="1800" b="0"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dirty="0">
                <a:latin typeface="Calibri" panose="020F0502020204030204" pitchFamily="34" charset="0"/>
                <a:cs typeface="Calibri" panose="020F0502020204030204" pitchFamily="34" charset="0"/>
              </a:rPr>
              <a:t>Muhammad Taha Khan  </a:t>
            </a:r>
          </a:p>
          <a:p>
            <a:pPr marL="285750" indent="-285750">
              <a:buFont typeface="Wingdings" panose="05000000000000000000" pitchFamily="2" charset="2"/>
              <a:buChar char="Ø"/>
            </a:pPr>
            <a:r>
              <a:rPr lang="en-US" sz="1800" b="0" dirty="0">
                <a:latin typeface="Calibri" panose="020F0502020204030204" pitchFamily="34" charset="0"/>
                <a:cs typeface="Calibri" panose="020F0502020204030204" pitchFamily="34" charset="0"/>
              </a:rPr>
              <a:t>Muhammad Usman Afzal</a:t>
            </a:r>
            <a:endParaRPr sz="1800" b="0" dirty="0">
              <a:latin typeface="Calibri" panose="020F0502020204030204" pitchFamily="34" charset="0"/>
              <a:cs typeface="Calibri" panose="020F0502020204030204" pitchFamily="34" charset="0"/>
            </a:endParaRPr>
          </a:p>
        </p:txBody>
      </p:sp>
      <p:sp>
        <p:nvSpPr>
          <p:cNvPr id="10" name="Isosceles Triangle 9"/>
          <p:cNvSpPr/>
          <p:nvPr/>
        </p:nvSpPr>
        <p:spPr>
          <a:xfrm flipV="1">
            <a:off x="2209800" y="1066800"/>
            <a:ext cx="1143000" cy="10668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0" y="0"/>
            <a:ext cx="2424622" cy="523220"/>
          </a:xfrm>
          <a:prstGeom prst="rect">
            <a:avLst/>
          </a:prstGeom>
          <a:solidFill>
            <a:srgbClr val="F86308"/>
          </a:solidFill>
        </p:spPr>
        <p:txBody>
          <a:bodyPr wrap="square" rtlCol="0">
            <a:spAutoFit/>
          </a:bodyPr>
          <a:lstStyle/>
          <a:p>
            <a:pPr algn="ctr"/>
            <a:r>
              <a:rPr lang="en-US" sz="2800" b="1" dirty="0">
                <a:solidFill>
                  <a:schemeClr val="bg1"/>
                </a:solidFill>
                <a:latin typeface="Calibri" pitchFamily="34" charset="0"/>
              </a:rPr>
              <a:t>FYP-I</a:t>
            </a:r>
          </a:p>
        </p:txBody>
      </p:sp>
      <p:sp>
        <p:nvSpPr>
          <p:cNvPr id="12" name="Isosceles Triangle 11"/>
          <p:cNvSpPr/>
          <p:nvPr/>
        </p:nvSpPr>
        <p:spPr>
          <a:xfrm flipV="1">
            <a:off x="4894118" y="6020076"/>
            <a:ext cx="1143000" cy="83792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365760" y="4617720"/>
            <a:ext cx="4297680" cy="1005840"/>
          </a:xfrm>
          <a:prstGeom prst="rect">
            <a:avLst/>
          </a:prstGeom>
          <a:noFill/>
        </p:spPr>
        <p:txBody>
          <a:bodyPr wrap="square">
            <a:spAutoFit/>
          </a:bodyPr>
          <a:lstStyle/>
          <a:p>
            <a:r>
              <a:rPr sz="1400" b="1">
                <a:solidFill>
                  <a:srgbClr val="595959"/>
                </a:solidFill>
              </a:rPr>
              <a:t>Project Supervisor</a:t>
            </a:r>
          </a:p>
          <a:p>
            <a:r>
              <a:rPr sz="1800" b="1">
                <a:solidFill>
                  <a:srgbClr val="1F3864"/>
                </a:solidFill>
              </a:rPr>
              <a:t>Miss Soofia</a:t>
            </a:r>
          </a:p>
        </p:txBody>
      </p:sp>
    </p:spTree>
    <p:extLst>
      <p:ext uri="{BB962C8B-B14F-4D97-AF65-F5344CB8AC3E}">
        <p14:creationId xmlns:p14="http://schemas.microsoft.com/office/powerpoint/2010/main" val="2080624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FastGrid — Project Summary</a:t>
            </a:r>
          </a:p>
        </p:txBody>
      </p:sp>
      <p:sp>
        <p:nvSpPr>
          <p:cNvPr id="3" name="Content Placeholder 2"/>
          <p:cNvSpPr>
            <a:spLocks noGrp="1"/>
          </p:cNvSpPr>
          <p:nvPr>
            <p:ph sz="quarter" idx="1"/>
          </p:nvPr>
        </p:nvSpPr>
        <p:spPr/>
        <p:txBody>
          <a:bodyPr>
            <a:normAutofit/>
          </a:bodyPr>
          <a:lstStyle/>
          <a:p>
            <a:pPr>
              <a:lnSpc>
                <a:spcPct val="138000"/>
              </a:lnSpc>
              <a:buFont typeface="Wingdings" panose="05000000000000000000" pitchFamily="2" charset="2"/>
              <a:buChar char="v"/>
            </a:pPr>
            <a:r>
              <a:rPr sz="1700" dirty="0">
                <a:solidFill>
                  <a:schemeClr val="tx1">
                    <a:lumMod val="95000"/>
                    <a:lumOff val="5000"/>
                  </a:schemeClr>
                </a:solidFill>
                <a:latin typeface="Calibri" panose="020F0502020204030204" pitchFamily="34" charset="0"/>
                <a:cs typeface="Calibri" panose="020F0502020204030204" pitchFamily="34" charset="0"/>
              </a:rPr>
              <a:t>A high-performance, reusable grid library for WPF applications.</a:t>
            </a:r>
          </a:p>
          <a:p>
            <a:pPr>
              <a:lnSpc>
                <a:spcPct val="138000"/>
              </a:lnSpc>
              <a:buFont typeface="Wingdings" panose="05000000000000000000" pitchFamily="2" charset="2"/>
              <a:buChar char="v"/>
            </a:pPr>
            <a:r>
              <a:rPr sz="1700" dirty="0">
                <a:solidFill>
                  <a:schemeClr val="tx1">
                    <a:lumMod val="95000"/>
                    <a:lumOff val="5000"/>
                  </a:schemeClr>
                </a:solidFill>
                <a:latin typeface="Calibri" panose="020F0502020204030204" pitchFamily="34" charset="0"/>
                <a:cs typeface="Calibri" panose="020F0502020204030204" pitchFamily="34" charset="0"/>
              </a:rPr>
              <a:t>Uses SkiaSharp immediate-mode rendering instead of creating a UI element for every cell.</a:t>
            </a:r>
          </a:p>
          <a:p>
            <a:pPr>
              <a:lnSpc>
                <a:spcPct val="138000"/>
              </a:lnSpc>
              <a:buFont typeface="Wingdings" panose="05000000000000000000" pitchFamily="2" charset="2"/>
              <a:buChar char="v"/>
            </a:pPr>
            <a:r>
              <a:rPr sz="1700" dirty="0">
                <a:solidFill>
                  <a:schemeClr val="tx1">
                    <a:lumMod val="95000"/>
                    <a:lumOff val="5000"/>
                  </a:schemeClr>
                </a:solidFill>
                <a:latin typeface="Calibri" panose="020F0502020204030204" pitchFamily="34" charset="0"/>
                <a:cs typeface="Calibri" panose="020F0502020204030204" pitchFamily="34" charset="0"/>
              </a:rPr>
              <a:t>Target: smooth interaction with large datasets, including 100,000 rows.</a:t>
            </a:r>
          </a:p>
          <a:p>
            <a:pPr>
              <a:lnSpc>
                <a:spcPct val="138000"/>
              </a:lnSpc>
              <a:buFont typeface="Wingdings" panose="05000000000000000000" pitchFamily="2" charset="2"/>
              <a:buChar char="v"/>
            </a:pPr>
            <a:r>
              <a:rPr sz="1700" dirty="0">
                <a:solidFill>
                  <a:schemeClr val="tx1">
                    <a:lumMod val="95000"/>
                    <a:lumOff val="5000"/>
                  </a:schemeClr>
                </a:solidFill>
                <a:latin typeface="Calibri" panose="020F0502020204030204" pitchFamily="34" charset="0"/>
                <a:cs typeface="Calibri" panose="020F0502020204030204" pitchFamily="34" charset="0"/>
              </a:rPr>
              <a:t>FYP-I status: MORE than the 30% milestone is complete - a working, packaged library (SkiaSharpControlV2 v</a:t>
            </a:r>
            <a:r>
              <a:rPr lang="en-US" sz="1700" dirty="0">
                <a:solidFill>
                  <a:schemeClr val="tx1">
                    <a:lumMod val="95000"/>
                    <a:lumOff val="5000"/>
                  </a:schemeClr>
                </a:solidFill>
                <a:latin typeface="Calibri" panose="020F0502020204030204" pitchFamily="34" charset="0"/>
                <a:cs typeface="Calibri" panose="020F0502020204030204" pitchFamily="34" charset="0"/>
              </a:rPr>
              <a:t>1.0.2</a:t>
            </a:r>
            <a:r>
              <a:rPr sz="1700" dirty="0">
                <a:solidFill>
                  <a:schemeClr val="tx1">
                    <a:lumMod val="95000"/>
                    <a:lumOff val="5000"/>
                  </a:schemeClr>
                </a:solidFill>
                <a:latin typeface="Calibri" panose="020F0502020204030204" pitchFamily="34" charset="0"/>
                <a:cs typeface="Calibri" panose="020F0502020204030204" pitchFamily="34" charset="0"/>
              </a:rPr>
              <a:t>) with 552 passing unit tests and a GitHub Actions CI/CD pipeline.</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2</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spTree>
    <p:extLst>
      <p:ext uri="{BB962C8B-B14F-4D97-AF65-F5344CB8AC3E}">
        <p14:creationId xmlns:p14="http://schemas.microsoft.com/office/powerpoint/2010/main" val="3066281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dirty="0"/>
              <a:t>Problem Statement</a:t>
            </a:r>
          </a:p>
        </p:txBody>
      </p:sp>
      <p:sp>
        <p:nvSpPr>
          <p:cNvPr id="3" name="Content Placeholder 2"/>
          <p:cNvSpPr>
            <a:spLocks noGrp="1"/>
          </p:cNvSpPr>
          <p:nvPr>
            <p:ph sz="quarter" idx="1"/>
          </p:nvPr>
        </p:nvSpPr>
        <p:spPr/>
        <p:txBody>
          <a:bodyPr/>
          <a:lstStyle/>
          <a:p>
            <a:pPr>
              <a:lnSpc>
                <a:spcPct val="200000"/>
              </a:lnSpc>
              <a:buFont typeface="Wingdings" panose="05000000000000000000" pitchFamily="2" charset="2"/>
              <a:buChar char="v"/>
            </a:pPr>
            <a:r>
              <a:rPr sz="1800" dirty="0">
                <a:latin typeface="Calibri" panose="020F0502020204030204" pitchFamily="34" charset="0"/>
                <a:cs typeface="Calibri" panose="020F0502020204030204" pitchFamily="34" charset="0"/>
              </a:rPr>
              <a:t>WPF DataGrid can degrade when datasets become large or update frequently.</a:t>
            </a:r>
            <a:endParaRPr lang="en-US" dirty="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sz="1800" dirty="0">
                <a:latin typeface="Calibri" panose="020F0502020204030204" pitchFamily="34" charset="0"/>
                <a:cs typeface="Calibri" panose="020F0502020204030204" pitchFamily="34" charset="0"/>
              </a:rPr>
              <a:t>Traditional element-per-cell rendering creates substantial layout, measure, and visual-tree overhead.</a:t>
            </a:r>
          </a:p>
          <a:p>
            <a:pPr>
              <a:lnSpc>
                <a:spcPct val="200000"/>
              </a:lnSpc>
              <a:buFont typeface="Wingdings" panose="05000000000000000000" pitchFamily="2" charset="2"/>
              <a:buChar char="v"/>
            </a:pPr>
            <a:r>
              <a:rPr sz="1800" dirty="0">
                <a:latin typeface="Calibri" panose="020F0502020204030204" pitchFamily="34" charset="0"/>
                <a:cs typeface="Calibri" panose="020F0502020204030204" pitchFamily="34" charset="0"/>
              </a:rPr>
              <a:t>The result can be high frame times, scrolling lag, and poor responsiveness.</a:t>
            </a:r>
          </a:p>
          <a:p>
            <a:pPr>
              <a:lnSpc>
                <a:spcPct val="200000"/>
              </a:lnSpc>
              <a:buFont typeface="Wingdings" panose="05000000000000000000" pitchFamily="2" charset="2"/>
              <a:buChar char="v"/>
            </a:pPr>
            <a:r>
              <a:rPr sz="1800" dirty="0" err="1">
                <a:latin typeface="Calibri" panose="020F0502020204030204" pitchFamily="34" charset="0"/>
                <a:cs typeface="Calibri" panose="020F0502020204030204" pitchFamily="34" charset="0"/>
              </a:rPr>
              <a:t>FastGrid</a:t>
            </a:r>
            <a:r>
              <a:rPr sz="1800" dirty="0">
                <a:latin typeface="Calibri" panose="020F0502020204030204" pitchFamily="34" charset="0"/>
                <a:cs typeface="Calibri" panose="020F0502020204030204" pitchFamily="34" charset="0"/>
              </a:rPr>
              <a:t> addresses the rendering bottleneck through immediate-mode drawing.</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3</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spTree>
    <p:extLst>
      <p:ext uri="{BB962C8B-B14F-4D97-AF65-F5344CB8AC3E}">
        <p14:creationId xmlns:p14="http://schemas.microsoft.com/office/powerpoint/2010/main" val="353555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Objectives</a:t>
            </a:r>
          </a:p>
        </p:txBody>
      </p:sp>
      <p:sp>
        <p:nvSpPr>
          <p:cNvPr id="3" name="Content Placeholder 2"/>
          <p:cNvSpPr>
            <a:spLocks noGrp="1"/>
          </p:cNvSpPr>
          <p:nvPr>
            <p:ph sz="quarter" idx="1"/>
          </p:nvPr>
        </p:nvSpPr>
        <p:spPr/>
        <p:txBody>
          <a:bodyPr/>
          <a:lstStyle/>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Performance: achieve sub-5 </a:t>
            </a:r>
            <a:r>
              <a:rPr sz="1800" dirty="0" err="1">
                <a:latin typeface="Calibri" panose="020F0502020204030204" pitchFamily="34" charset="0"/>
                <a:cs typeface="Calibri" panose="020F0502020204030204" pitchFamily="34" charset="0"/>
              </a:rPr>
              <a:t>ms</a:t>
            </a:r>
            <a:r>
              <a:rPr sz="1800" dirty="0">
                <a:latin typeface="Calibri" panose="020F0502020204030204" pitchFamily="34" charset="0"/>
                <a:cs typeface="Calibri" panose="020F0502020204030204" pitchFamily="34" charset="0"/>
              </a:rPr>
              <a:t> baseline frame time for the target workload.</a:t>
            </a:r>
            <a:endParaRPr lang="en-US" dirty="0">
              <a:latin typeface="Calibri" panose="020F0502020204030204" pitchFamily="34" charset="0"/>
              <a:cs typeface="Calibri" panose="020F0502020204030204" pitchFamily="34" charset="0"/>
            </a:endParaRPr>
          </a:p>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Scalability: support interactive navigation of datasets up to 100,000 rows.</a:t>
            </a:r>
          </a:p>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Features: provide essential grid interactions such as scrolling, selection, and column/row presentation.</a:t>
            </a:r>
          </a:p>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Reusability: package the solution as a reusable NuGet library.</a:t>
            </a:r>
          </a:p>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Quality &amp; Cloud Ops: automate build/test/package workflows and collect performance telemetry.</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4</a:t>
            </a:fld>
            <a:endParaRPr lang="en-US" dirty="0"/>
          </a:p>
        </p:txBody>
      </p:sp>
      <p:sp>
        <p:nvSpPr>
          <p:cNvPr id="6" name="Date Placeholder 5"/>
          <p:cNvSpPr>
            <a:spLocks noGrp="1"/>
          </p:cNvSpPr>
          <p:nvPr>
            <p:ph type="dt" sz="half" idx="10"/>
          </p:nvPr>
        </p:nvSpPr>
        <p:spPr/>
        <p:txBody>
          <a:bodyPr/>
          <a:lstStyle/>
          <a:p>
            <a:pPr algn="ctr"/>
            <a:r>
              <a:rPr lang="en-US" dirty="0"/>
              <a:t>Hamdard University </a:t>
            </a:r>
          </a:p>
        </p:txBody>
      </p:sp>
    </p:spTree>
    <p:extLst>
      <p:ext uri="{BB962C8B-B14F-4D97-AF65-F5344CB8AC3E}">
        <p14:creationId xmlns:p14="http://schemas.microsoft.com/office/powerpoint/2010/main" val="718122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FYP Scope</a:t>
            </a:r>
          </a:p>
        </p:txBody>
      </p:sp>
      <p:sp>
        <p:nvSpPr>
          <p:cNvPr id="3" name="Content Placeholder 2"/>
          <p:cNvSpPr>
            <a:spLocks noGrp="1"/>
          </p:cNvSpPr>
          <p:nvPr>
            <p:ph sz="quarter" idx="1"/>
          </p:nvPr>
        </p:nvSpPr>
        <p:spPr/>
        <p:txBody>
          <a:bodyPr/>
          <a:lstStyle/>
          <a:p>
            <a:pPr>
              <a:lnSpc>
                <a:spcPct val="130000"/>
              </a:lnSpc>
              <a:buFont typeface="Wingdings" panose="05000000000000000000" pitchFamily="2" charset="2"/>
              <a:buChar char="v"/>
            </a:pPr>
            <a:r>
              <a:rPr sz="1500" dirty="0">
                <a:latin typeface="Calibri" panose="020F0502020204030204" pitchFamily="34" charset="0"/>
                <a:cs typeface="Calibri" panose="020F0502020204030204" pitchFamily="34" charset="0"/>
              </a:rPr>
              <a:t>In scope: WPF grid control, SkiaSharp renderer, data/view abstraction, grid managers, metrics, tests, packaging.</a:t>
            </a:r>
            <a:endParaRPr lang="en-US" dirty="0">
              <a:latin typeface="Calibri" panose="020F0502020204030204" pitchFamily="34" charset="0"/>
              <a:cs typeface="Calibri" panose="020F0502020204030204" pitchFamily="34" charset="0"/>
            </a:endParaRPr>
          </a:p>
          <a:p>
            <a:pPr>
              <a:lnSpc>
                <a:spcPct val="130000"/>
              </a:lnSpc>
              <a:buFont typeface="Wingdings" panose="05000000000000000000" pitchFamily="2" charset="2"/>
              <a:buChar char="v"/>
            </a:pPr>
            <a:r>
              <a:rPr sz="1500" dirty="0">
                <a:latin typeface="Calibri" panose="020F0502020204030204" pitchFamily="34" charset="0"/>
                <a:cs typeface="Calibri" panose="020F0502020204030204" pitchFamily="34" charset="0"/>
              </a:rPr>
              <a:t>In scope: GitHub Actions CI/CD pipeline and NuGet package distribution - both now in use.</a:t>
            </a:r>
            <a:endParaRPr lang="en-US" dirty="0">
              <a:latin typeface="Calibri" panose="020F0502020204030204" pitchFamily="34" charset="0"/>
              <a:cs typeface="Calibri" panose="020F0502020204030204" pitchFamily="34" charset="0"/>
            </a:endParaRPr>
          </a:p>
          <a:p>
            <a:pPr>
              <a:lnSpc>
                <a:spcPct val="130000"/>
              </a:lnSpc>
              <a:buFont typeface="Wingdings" panose="05000000000000000000" pitchFamily="2" charset="2"/>
              <a:buChar char="v"/>
            </a:pPr>
            <a:r>
              <a:rPr sz="1500" dirty="0">
                <a:latin typeface="Calibri" panose="020F0502020204030204" pitchFamily="34" charset="0"/>
                <a:cs typeface="Calibri" panose="020F0502020204030204" pitchFamily="34" charset="0"/>
              </a:rPr>
              <a:t>FYP-I milestone target was a 30% proof-of-concept; the delivered scope is well beyond that (see Change of Scope).</a:t>
            </a:r>
            <a:endParaRPr lang="en-US" dirty="0">
              <a:latin typeface="Calibri" panose="020F0502020204030204" pitchFamily="34" charset="0"/>
              <a:cs typeface="Calibri" panose="020F0502020204030204" pitchFamily="34" charset="0"/>
            </a:endParaRPr>
          </a:p>
          <a:p>
            <a:pPr>
              <a:lnSpc>
                <a:spcPct val="130000"/>
              </a:lnSpc>
              <a:buFont typeface="Wingdings" panose="05000000000000000000" pitchFamily="2" charset="2"/>
              <a:buChar char="v"/>
            </a:pPr>
            <a:r>
              <a:rPr sz="1500" dirty="0">
                <a:latin typeface="Calibri" panose="020F0502020204030204" pitchFamily="34" charset="0"/>
                <a:cs typeface="Calibri" panose="020F0502020204030204" pitchFamily="34" charset="0"/>
              </a:rPr>
              <a:t>Proof-of-concept target met and exceeded: live scrolling and measured frame time at 100,000 and 1,000,000 rows.</a:t>
            </a:r>
            <a:endParaRPr lang="en-US" dirty="0">
              <a:latin typeface="Calibri" panose="020F0502020204030204" pitchFamily="34" charset="0"/>
              <a:cs typeface="Calibri" panose="020F0502020204030204" pitchFamily="34" charset="0"/>
            </a:endParaRPr>
          </a:p>
          <a:p>
            <a:pPr>
              <a:lnSpc>
                <a:spcPct val="130000"/>
              </a:lnSpc>
              <a:buFont typeface="Wingdings" panose="05000000000000000000" pitchFamily="2" charset="2"/>
              <a:buChar char="v"/>
            </a:pPr>
            <a:r>
              <a:rPr sz="1500" dirty="0">
                <a:latin typeface="Calibri" panose="020F0502020204030204" pitchFamily="34" charset="0"/>
                <a:cs typeface="Calibri" panose="020F0502020204030204" pitchFamily="34" charset="0"/>
              </a:rPr>
              <a:t>Deferred to FYP-II: the cloud telemetry dashboard and dirty-rectangle rendering.</a:t>
            </a:r>
            <a:endParaRPr lang="en-US" dirty="0">
              <a:latin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5</a:t>
            </a:fld>
            <a:endParaRPr lang="en-US" dirty="0"/>
          </a:p>
        </p:txBody>
      </p:sp>
      <p:sp>
        <p:nvSpPr>
          <p:cNvPr id="6" name="Date Placeholder 5"/>
          <p:cNvSpPr>
            <a:spLocks noGrp="1"/>
          </p:cNvSpPr>
          <p:nvPr>
            <p:ph type="dt" sz="half" idx="10"/>
          </p:nvPr>
        </p:nvSpPr>
        <p:spPr/>
        <p:txBody>
          <a:bodyPr/>
          <a:lstStyle/>
          <a:p>
            <a:pPr algn="ctr"/>
            <a:r>
              <a:rPr lang="en-US" dirty="0"/>
              <a:t>Hamdard University </a:t>
            </a:r>
          </a:p>
        </p:txBody>
      </p:sp>
    </p:spTree>
    <p:extLst>
      <p:ext uri="{BB962C8B-B14F-4D97-AF65-F5344CB8AC3E}">
        <p14:creationId xmlns:p14="http://schemas.microsoft.com/office/powerpoint/2010/main" val="3381969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Change of Scope</a:t>
            </a:r>
          </a:p>
        </p:txBody>
      </p:sp>
      <p:sp>
        <p:nvSpPr>
          <p:cNvPr id="3" name="Content Placeholder 2"/>
          <p:cNvSpPr>
            <a:spLocks noGrp="1"/>
          </p:cNvSpPr>
          <p:nvPr>
            <p:ph sz="quarter" idx="1"/>
          </p:nvPr>
        </p:nvSpPr>
        <p:spPr/>
        <p:txBody>
          <a:bodyPr>
            <a:normAutofit/>
          </a:bodyPr>
          <a:lstStyle/>
          <a:p>
            <a:pPr>
              <a:lnSpc>
                <a:spcPct val="124000"/>
              </a:lnSpc>
              <a:buFont typeface="Wingdings" panose="05000000000000000000" pitchFamily="2" charset="2"/>
              <a:buChar char="v"/>
            </a:pPr>
            <a:r>
              <a:rPr sz="1400" dirty="0">
                <a:solidFill>
                  <a:schemeClr val="tx1">
                    <a:lumMod val="95000"/>
                    <a:lumOff val="5000"/>
                  </a:schemeClr>
                </a:solidFill>
                <a:latin typeface="Calibri" panose="020F0502020204030204" pitchFamily="34" charset="0"/>
                <a:cs typeface="Calibri" panose="020F0502020204030204" pitchFamily="34" charset="0"/>
              </a:rPr>
              <a:t>FYP-I milestone target: a proof-of-concept demonstrating roughly 30% of the work.</a:t>
            </a:r>
          </a:p>
          <a:p>
            <a:pPr>
              <a:lnSpc>
                <a:spcPct val="124000"/>
              </a:lnSpc>
              <a:buFont typeface="Wingdings" panose="05000000000000000000" pitchFamily="2" charset="2"/>
              <a:buChar char="v"/>
            </a:pPr>
            <a:r>
              <a:rPr sz="1400" dirty="0">
                <a:solidFill>
                  <a:schemeClr val="tx1">
                    <a:lumMod val="95000"/>
                    <a:lumOff val="5000"/>
                  </a:schemeClr>
                </a:solidFill>
                <a:latin typeface="Calibri" panose="020F0502020204030204" pitchFamily="34" charset="0"/>
                <a:cs typeface="Calibri" panose="020F0502020204030204" pitchFamily="34" charset="0"/>
              </a:rPr>
              <a:t>Actually delivered: MORE than 30% - a complete, versioned and packaged library, SkiaSharpControlV2 v</a:t>
            </a:r>
            <a:r>
              <a:rPr lang="en-US" sz="1400" dirty="0">
                <a:solidFill>
                  <a:schemeClr val="tx1">
                    <a:lumMod val="95000"/>
                    <a:lumOff val="5000"/>
                  </a:schemeClr>
                </a:solidFill>
                <a:latin typeface="Calibri" panose="020F0502020204030204" pitchFamily="34" charset="0"/>
                <a:cs typeface="Calibri" panose="020F0502020204030204" pitchFamily="34" charset="0"/>
              </a:rPr>
              <a:t>1.0.2</a:t>
            </a:r>
            <a:r>
              <a:rPr sz="1400" dirty="0">
                <a:solidFill>
                  <a:schemeClr val="tx1">
                    <a:lumMod val="95000"/>
                    <a:lumOff val="5000"/>
                  </a:schemeClr>
                </a:solidFill>
                <a:latin typeface="Calibri" panose="020F0502020204030204" pitchFamily="34" charset="0"/>
                <a:cs typeface="Calibri" panose="020F0502020204030204" pitchFamily="34" charset="0"/>
              </a:rPr>
              <a:t>, with 552 passing unit tests.</a:t>
            </a:r>
          </a:p>
          <a:p>
            <a:pPr>
              <a:lnSpc>
                <a:spcPct val="124000"/>
              </a:lnSpc>
              <a:buFont typeface="Wingdings" panose="05000000000000000000" pitchFamily="2" charset="2"/>
              <a:buChar char="v"/>
            </a:pPr>
            <a:r>
              <a:rPr sz="1400" dirty="0">
                <a:solidFill>
                  <a:schemeClr val="tx1">
                    <a:lumMod val="95000"/>
                    <a:lumOff val="5000"/>
                  </a:schemeClr>
                </a:solidFill>
                <a:latin typeface="Calibri" panose="020F0502020204030204" pitchFamily="34" charset="0"/>
                <a:cs typeface="Calibri" panose="020F0502020204030204" pitchFamily="34" charset="0"/>
              </a:rPr>
              <a:t>Added beyond the original scope: grouping with six aggregations, conditional styling and triggers, in-cell buttons and commands, UI Automation, cross-application row drag-and-drop, TSV export, tooltips and density theming.</a:t>
            </a:r>
          </a:p>
          <a:p>
            <a:pPr>
              <a:lnSpc>
                <a:spcPct val="124000"/>
              </a:lnSpc>
              <a:buFont typeface="Wingdings" panose="05000000000000000000" pitchFamily="2" charset="2"/>
              <a:buChar char="v"/>
            </a:pPr>
            <a:r>
              <a:rPr sz="1400" dirty="0">
                <a:solidFill>
                  <a:schemeClr val="tx1">
                    <a:lumMod val="95000"/>
                    <a:lumOff val="5000"/>
                  </a:schemeClr>
                </a:solidFill>
                <a:latin typeface="Calibri" panose="020F0502020204030204" pitchFamily="34" charset="0"/>
                <a:cs typeface="Calibri" panose="020F0502020204030204" pitchFamily="34" charset="0"/>
              </a:rPr>
              <a:t>Brought forward: the GitHub Actions CI/CD pipeline and NuGet publishing are already in use, not just designed.</a:t>
            </a:r>
          </a:p>
          <a:p>
            <a:pPr>
              <a:lnSpc>
                <a:spcPct val="124000"/>
              </a:lnSpc>
              <a:buFont typeface="Wingdings" panose="05000000000000000000" pitchFamily="2" charset="2"/>
              <a:buChar char="v"/>
            </a:pPr>
            <a:r>
              <a:rPr sz="1400" dirty="0">
                <a:solidFill>
                  <a:schemeClr val="tx1">
                    <a:lumMod val="95000"/>
                    <a:lumOff val="5000"/>
                  </a:schemeClr>
                </a:solidFill>
                <a:latin typeface="Calibri" panose="020F0502020204030204" pitchFamily="34" charset="0"/>
                <a:cs typeface="Calibri" panose="020F0502020204030204" pitchFamily="34" charset="0"/>
              </a:rPr>
              <a:t>Deferred to FYP-II: the cloud telemetry dashboard, and dirty-rectangle rendering as the next performance step.</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6</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Our Methodology</a:t>
            </a:r>
          </a:p>
        </p:txBody>
      </p:sp>
      <p:sp>
        <p:nvSpPr>
          <p:cNvPr id="3" name="Content Placeholder 2"/>
          <p:cNvSpPr>
            <a:spLocks noGrp="1"/>
          </p:cNvSpPr>
          <p:nvPr>
            <p:ph sz="quarter" idx="1"/>
          </p:nvPr>
        </p:nvSpPr>
        <p:spPr/>
        <p:txBody>
          <a:bodyPr/>
          <a:lstStyle/>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1. Analyze WPF DataGrid rendering and identify performance bottlenecks.</a:t>
            </a:r>
            <a:endParaRPr lang="en-US" dirty="0">
              <a:latin typeface="Calibri" panose="020F0502020204030204" pitchFamily="34" charset="0"/>
              <a:cs typeface="Calibri" panose="020F0502020204030204" pitchFamily="34" charset="0"/>
            </a:endParaRPr>
          </a:p>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2. Design a layered architecture separating control, data, managers, rendering, and automation.</a:t>
            </a:r>
          </a:p>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3. Implement a </a:t>
            </a:r>
            <a:r>
              <a:rPr sz="1800" dirty="0" err="1">
                <a:latin typeface="Calibri" panose="020F0502020204030204" pitchFamily="34" charset="0"/>
                <a:cs typeface="Calibri" panose="020F0502020204030204" pitchFamily="34" charset="0"/>
              </a:rPr>
              <a:t>SkiaSharp</a:t>
            </a:r>
            <a:r>
              <a:rPr sz="1800" dirty="0">
                <a:latin typeface="Calibri" panose="020F0502020204030204" pitchFamily="34" charset="0"/>
                <a:cs typeface="Calibri" panose="020F0502020204030204" pitchFamily="34" charset="0"/>
              </a:rPr>
              <a:t> immediate-mode rendering prototype.</a:t>
            </a:r>
          </a:p>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4. Benchmark frame time and validate behavior using large datasets.</a:t>
            </a:r>
          </a:p>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5. Integrate CI/CD, package distribution, and telemetry for operational readiness.</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7</a:t>
            </a:fld>
            <a:endParaRPr lang="en-US" dirty="0"/>
          </a:p>
        </p:txBody>
      </p:sp>
      <p:sp>
        <p:nvSpPr>
          <p:cNvPr id="6" name="Date Placeholder 5"/>
          <p:cNvSpPr>
            <a:spLocks noGrp="1"/>
          </p:cNvSpPr>
          <p:nvPr>
            <p:ph type="dt" sz="half" idx="10"/>
          </p:nvPr>
        </p:nvSpPr>
        <p:spPr/>
        <p:txBody>
          <a:bodyPr/>
          <a:lstStyle/>
          <a:p>
            <a:pPr algn="ctr"/>
            <a:r>
              <a:rPr lang="en-US" dirty="0"/>
              <a:t>Hamdard University </a:t>
            </a:r>
          </a:p>
        </p:txBody>
      </p:sp>
    </p:spTree>
    <p:extLst>
      <p:ext uri="{BB962C8B-B14F-4D97-AF65-F5344CB8AC3E}">
        <p14:creationId xmlns:p14="http://schemas.microsoft.com/office/powerpoint/2010/main" val="1123375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Tools &amp; Technologies</a:t>
            </a:r>
          </a:p>
        </p:txBody>
      </p:sp>
      <p:sp>
        <p:nvSpPr>
          <p:cNvPr id="3" name="Content Placeholder 2"/>
          <p:cNvSpPr>
            <a:spLocks noGrp="1"/>
          </p:cNvSpPr>
          <p:nvPr>
            <p:ph sz="quarter" idx="1"/>
          </p:nvPr>
        </p:nvSpPr>
        <p:spPr/>
        <p:txBody>
          <a:bodyPr>
            <a:normAutofit/>
          </a:bodyPr>
          <a:lstStyle/>
          <a:p>
            <a:pPr>
              <a:lnSpc>
                <a:spcPct val="126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Language &amp; Runtime - C# on .NET 8 (net8.0-windows); WPF with XAML and the MVVM pattern.</a:t>
            </a:r>
          </a:p>
          <a:p>
            <a:pPr>
              <a:lnSpc>
                <a:spcPct val="126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Rendering - SkiaSharp.Views.WPF 3.116.1 (SKElement) over the native Skia 2D graphics engine.</a:t>
            </a:r>
          </a:p>
          <a:p>
            <a:pPr>
              <a:lnSpc>
                <a:spcPct val="126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Testing - xUnit 2.5.3, NSubstitute 5.1.0, Coverlet, Microsoft.NET.Test.Sdk 17.8.0 (552 tests).</a:t>
            </a:r>
          </a:p>
          <a:p>
            <a:pPr>
              <a:lnSpc>
                <a:spcPct val="126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Accessibility - .NET UI Automation (AutomationPeer framework).</a:t>
            </a:r>
          </a:p>
          <a:p>
            <a:pPr>
              <a:lnSpc>
                <a:spcPct val="126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CI/CD - GitHub Actions: build, test, pack and publish, gated on a green test run.</a:t>
            </a:r>
          </a:p>
          <a:p>
            <a:pPr>
              <a:lnSpc>
                <a:spcPct val="126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Source control &amp; Packaging - Git / GitHub (</a:t>
            </a:r>
            <a:r>
              <a:rPr lang="en-US" sz="1500" dirty="0" err="1">
                <a:solidFill>
                  <a:schemeClr val="tx1">
                    <a:lumMod val="95000"/>
                    <a:lumOff val="5000"/>
                  </a:schemeClr>
                </a:solidFill>
                <a:latin typeface="Calibri" panose="020F0502020204030204" pitchFamily="34" charset="0"/>
                <a:cs typeface="Calibri" panose="020F0502020204030204" pitchFamily="34" charset="0"/>
              </a:rPr>
              <a:t>Bilalahmedsd</a:t>
            </a:r>
            <a:r>
              <a:rPr sz="1500" dirty="0">
                <a:solidFill>
                  <a:schemeClr val="tx1">
                    <a:lumMod val="95000"/>
                    <a:lumOff val="5000"/>
                  </a:schemeClr>
                </a:solidFill>
                <a:latin typeface="Calibri" panose="020F0502020204030204" pitchFamily="34" charset="0"/>
                <a:cs typeface="Calibri" panose="020F0502020204030204" pitchFamily="34" charset="0"/>
              </a:rPr>
              <a:t>/SkiaGrid); NuGet package SkiaSharpControlV2 v</a:t>
            </a:r>
            <a:r>
              <a:rPr lang="en-US" sz="1500" dirty="0">
                <a:solidFill>
                  <a:schemeClr val="tx1">
                    <a:lumMod val="95000"/>
                    <a:lumOff val="5000"/>
                  </a:schemeClr>
                </a:solidFill>
                <a:latin typeface="Calibri" panose="020F0502020204030204" pitchFamily="34" charset="0"/>
                <a:cs typeface="Calibri" panose="020F0502020204030204" pitchFamily="34" charset="0"/>
              </a:rPr>
              <a:t>1.0.2</a:t>
            </a:r>
            <a:r>
              <a:rPr sz="1500" dirty="0">
                <a:solidFill>
                  <a:schemeClr val="tx1">
                    <a:lumMod val="95000"/>
                    <a:lumOff val="5000"/>
                  </a:schemeClr>
                </a:solidFill>
                <a:latin typeface="Calibri" panose="020F0502020204030204" pitchFamily="34" charset="0"/>
                <a:cs typeface="Calibri" panose="020F0502020204030204" pitchFamily="34" charset="0"/>
              </a:rPr>
              <a:t>, MIT licence.</a:t>
            </a:r>
          </a:p>
          <a:p>
            <a:pPr>
              <a:lnSpc>
                <a:spcPct val="126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Design &amp; Documentation - draw.io (diagrams.net) for architecture, DFD, Gantt and deployment charts.</a:t>
            </a:r>
          </a:p>
          <a:p>
            <a:pPr>
              <a:lnSpc>
                <a:spcPct val="126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Profiling - built-in GridMetrics instrumentation (Stopwatch scopes, counters, p50/p95/p99) with a live Performance Dashboard.</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8</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500" b="1"/>
              <a:t>Project Plan - 4 Phases, 8 Meetings</a:t>
            </a:r>
          </a:p>
        </p:txBody>
      </p:sp>
      <p:sp>
        <p:nvSpPr>
          <p:cNvPr id="3" name="Content Placeholder 2"/>
          <p:cNvSpPr>
            <a:spLocks noGrp="1"/>
          </p:cNvSpPr>
          <p:nvPr>
            <p:ph sz="quarter" idx="1"/>
          </p:nvPr>
        </p:nvSpPr>
        <p:spPr/>
        <p:txBody>
          <a:bodyPr/>
          <a:lstStyle/>
          <a:p>
            <a:pPr>
              <a:lnSpc>
                <a:spcPct val="112000"/>
              </a:lnSpc>
              <a:buFont typeface="Wingdings" panose="05000000000000000000" pitchFamily="2" charset="2"/>
              <a:buChar char="v"/>
            </a:pPr>
            <a:r>
              <a:rPr sz="1250" dirty="0">
                <a:latin typeface="Calibri" panose="020F0502020204030204" pitchFamily="34" charset="0"/>
                <a:cs typeface="Calibri" panose="020F0502020204030204" pitchFamily="34" charset="0"/>
              </a:rPr>
              <a:t>Phase 1 - Problem Definition &amp; Literature Review (M1 16 May, M2 23 May): present the problem, position FastGrid, agree scope; compare native DataGrid against DevExpress / Syncfusion / Telerik and immediate-mode drawing; confirm the stack.</a:t>
            </a:r>
            <a:endParaRPr lang="en-US" dirty="0">
              <a:latin typeface="Calibri" panose="020F0502020204030204" pitchFamily="34" charset="0"/>
              <a:cs typeface="Calibri" panose="020F0502020204030204" pitchFamily="34" charset="0"/>
            </a:endParaRPr>
          </a:p>
          <a:p>
            <a:pPr>
              <a:lnSpc>
                <a:spcPct val="112000"/>
              </a:lnSpc>
              <a:buFont typeface="Wingdings" panose="05000000000000000000" pitchFamily="2" charset="2"/>
              <a:buChar char="v"/>
            </a:pPr>
            <a:r>
              <a:rPr sz="1250" dirty="0">
                <a:latin typeface="Calibri" panose="020F0502020204030204" pitchFamily="34" charset="0"/>
                <a:cs typeface="Calibri" panose="020F0502020204030204" pitchFamily="34" charset="0"/>
              </a:rPr>
              <a:t>Phase 2 - Requirements &amp; SRS (M3 30 May, M4 15 Jun): functional requirements (render, sort, filter, group, select, style, buttons, tree, export, automation) and non-functional (sub-5 ms, 100k+ rows, usability, reliability, accessibility); use-case diagram, traceability, acceptance criteria; SRS signed off.</a:t>
            </a:r>
            <a:endParaRPr lang="en-US" dirty="0">
              <a:latin typeface="Calibri" panose="020F0502020204030204" pitchFamily="34" charset="0"/>
              <a:cs typeface="Calibri" panose="020F0502020204030204" pitchFamily="34" charset="0"/>
            </a:endParaRPr>
          </a:p>
          <a:p>
            <a:pPr>
              <a:lnSpc>
                <a:spcPct val="112000"/>
              </a:lnSpc>
              <a:buFont typeface="Wingdings" panose="05000000000000000000" pitchFamily="2" charset="2"/>
              <a:buChar char="v"/>
            </a:pPr>
            <a:r>
              <a:rPr sz="1250" dirty="0">
                <a:latin typeface="Calibri" panose="020F0502020204030204" pitchFamily="34" charset="0"/>
                <a:cs typeface="Calibri" panose="020F0502020204030204" pitchFamily="34" charset="0"/>
              </a:rPr>
              <a:t>Phase 3 - Architecture, Design &amp; DevOps (M5 27 Jun, M6 04 Jul): layered architecture, class diagram, paint-cycle sequence diagram, DFD levels 0-2; CI/CD pipeline architecture, deployment diagram, cloud registry and telemetry design.</a:t>
            </a:r>
            <a:endParaRPr lang="en-US" dirty="0">
              <a:latin typeface="Calibri" panose="020F0502020204030204" pitchFamily="34" charset="0"/>
              <a:cs typeface="Calibri" panose="020F0502020204030204" pitchFamily="34" charset="0"/>
            </a:endParaRPr>
          </a:p>
          <a:p>
            <a:pPr>
              <a:lnSpc>
                <a:spcPct val="112000"/>
              </a:lnSpc>
              <a:buFont typeface="Wingdings" panose="05000000000000000000" pitchFamily="2" charset="2"/>
              <a:buChar char="v"/>
            </a:pPr>
            <a:r>
              <a:rPr sz="1250" dirty="0">
                <a:latin typeface="Calibri" panose="020F0502020204030204" pitchFamily="34" charset="0"/>
                <a:cs typeface="Calibri" panose="020F0502020204030204" pitchFamily="34" charset="0"/>
              </a:rPr>
              <a:t>Phase 4 - Implementation, Benchmark &amp; Demo (M7 11 Jul, M8 18 Jul): SkiaSharp canvas rendering a large dataset with virtualization, baseline GridMetrics capture, 552 unit tests, NuGet release v2.18.0, consolidated presentation and PoC demo to the panel.</a:t>
            </a:r>
            <a:endParaRPr lang="en-US" dirty="0">
              <a:latin typeface="Calibri" panose="020F0502020204030204" pitchFamily="34" charset="0"/>
              <a:cs typeface="Calibri" panose="020F0502020204030204" pitchFamily="34" charset="0"/>
            </a:endParaRPr>
          </a:p>
          <a:p>
            <a:pPr>
              <a:lnSpc>
                <a:spcPct val="112000"/>
              </a:lnSpc>
              <a:buFont typeface="Wingdings" panose="05000000000000000000" pitchFamily="2" charset="2"/>
              <a:buChar char="v"/>
            </a:pPr>
            <a:r>
              <a:rPr sz="1250" dirty="0">
                <a:latin typeface="Calibri" panose="020F0502020204030204" pitchFamily="34" charset="0"/>
                <a:cs typeface="Calibri" panose="020F0502020204030204" pitchFamily="34" charset="0"/>
              </a:rPr>
              <a:t>All 8 meetings held and signed off by the supervisor (FYP Fortnightly Sign-off Sheet, project code 89223).</a:t>
            </a:r>
            <a:endParaRPr lang="en-US" dirty="0">
              <a:latin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9</a:t>
            </a:fld>
            <a:endParaRPr lang="en-US" dirty="0"/>
          </a:p>
        </p:txBody>
      </p:sp>
      <p:sp>
        <p:nvSpPr>
          <p:cNvPr id="6" name="Date Placeholder 5"/>
          <p:cNvSpPr>
            <a:spLocks noGrp="1"/>
          </p:cNvSpPr>
          <p:nvPr>
            <p:ph type="dt" sz="half" idx="10"/>
          </p:nvPr>
        </p:nvSpPr>
        <p:spPr/>
        <p:txBody>
          <a:bodyPr/>
          <a:lstStyle/>
          <a:p>
            <a:pPr algn="ctr"/>
            <a:r>
              <a:rPr lang="en-US" dirty="0"/>
              <a:t>Hamdard University </a:t>
            </a:r>
          </a:p>
        </p:txBody>
      </p:sp>
    </p:spTree>
    <p:extLst>
      <p:ext uri="{BB962C8B-B14F-4D97-AF65-F5344CB8AC3E}">
        <p14:creationId xmlns:p14="http://schemas.microsoft.com/office/powerpoint/2010/main" val="656654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a:t>RACI - Team Responsibility Matrix</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10</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graphicFrame>
        <p:nvGraphicFramePr>
          <p:cNvPr id="7" name="Table 6"/>
          <p:cNvGraphicFramePr>
            <a:graphicFrameLocks noGrp="1"/>
          </p:cNvGraphicFramePr>
          <p:nvPr>
            <p:extLst>
              <p:ext uri="{D42A27DB-BD31-4B8C-83A1-F6EECF244321}">
                <p14:modId xmlns:p14="http://schemas.microsoft.com/office/powerpoint/2010/main" val="3607303084"/>
              </p:ext>
            </p:extLst>
          </p:nvPr>
        </p:nvGraphicFramePr>
        <p:xfrm>
          <a:off x="384048" y="1731264"/>
          <a:ext cx="8375904" cy="3608836"/>
        </p:xfrm>
        <a:graphic>
          <a:graphicData uri="http://schemas.openxmlformats.org/drawingml/2006/table">
            <a:tbl>
              <a:tblPr firstRow="1" bandRow="1">
                <a:tableStyleId>{5C22544A-7EE6-4342-B048-85BDC9FD1C3A}</a:tableStyleId>
              </a:tblPr>
              <a:tblGrid>
                <a:gridCol w="3328416">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1261872">
                  <a:extLst>
                    <a:ext uri="{9D8B030D-6E8A-4147-A177-3AD203B41FA5}">
                      <a16:colId xmlns:a16="http://schemas.microsoft.com/office/drawing/2014/main" val="20002"/>
                    </a:ext>
                  </a:extLst>
                </a:gridCol>
                <a:gridCol w="1261872">
                  <a:extLst>
                    <a:ext uri="{9D8B030D-6E8A-4147-A177-3AD203B41FA5}">
                      <a16:colId xmlns:a16="http://schemas.microsoft.com/office/drawing/2014/main" val="20003"/>
                    </a:ext>
                  </a:extLst>
                </a:gridCol>
                <a:gridCol w="1261872">
                  <a:extLst>
                    <a:ext uri="{9D8B030D-6E8A-4147-A177-3AD203B41FA5}">
                      <a16:colId xmlns:a16="http://schemas.microsoft.com/office/drawing/2014/main" val="20004"/>
                    </a:ext>
                  </a:extLst>
                </a:gridCol>
              </a:tblGrid>
              <a:tr h="506216">
                <a:tc>
                  <a:txBody>
                    <a:bodyPr/>
                    <a:lstStyle/>
                    <a:p>
                      <a:pPr algn="l"/>
                      <a:r>
                        <a:rPr sz="1200" b="1" dirty="0">
                          <a:solidFill>
                            <a:srgbClr val="FFFFFF"/>
                          </a:solidFill>
                          <a:latin typeface="Calibri"/>
                        </a:rPr>
                        <a:t>Workstream</a:t>
                      </a:r>
                    </a:p>
                  </a:txBody>
                  <a:tcPr marL="45720" marR="45720" marT="9144" marB="9144" anchor="ctr"/>
                </a:tc>
                <a:tc>
                  <a:txBody>
                    <a:bodyPr/>
                    <a:lstStyle/>
                    <a:p>
                      <a:pPr algn="ctr"/>
                      <a:r>
                        <a:rPr sz="1100" b="1">
                          <a:solidFill>
                            <a:srgbClr val="FFFFFF"/>
                          </a:solidFill>
                          <a:latin typeface="Calibri"/>
                        </a:rPr>
                        <a:t>Bilal Ahmed</a:t>
                      </a:r>
                    </a:p>
                    <a:p>
                      <a:pPr algn="ctr"/>
                      <a:r>
                        <a:rPr sz="1100" b="1">
                          <a:solidFill>
                            <a:srgbClr val="FFFFFF"/>
                          </a:solidFill>
                          <a:latin typeface="Calibri"/>
                        </a:rPr>
                        <a:t>Siddiqui</a:t>
                      </a:r>
                    </a:p>
                  </a:txBody>
                  <a:tcPr marL="45720" marR="45720" marT="9144" marB="9144" anchor="ctr"/>
                </a:tc>
                <a:tc>
                  <a:txBody>
                    <a:bodyPr/>
                    <a:lstStyle/>
                    <a:p>
                      <a:pPr algn="ctr"/>
                      <a:r>
                        <a:rPr sz="1100" b="1">
                          <a:solidFill>
                            <a:srgbClr val="FFFFFF"/>
                          </a:solidFill>
                          <a:latin typeface="Calibri"/>
                        </a:rPr>
                        <a:t>Muhammad</a:t>
                      </a:r>
                    </a:p>
                    <a:p>
                      <a:pPr algn="ctr"/>
                      <a:r>
                        <a:rPr sz="1100" b="1">
                          <a:solidFill>
                            <a:srgbClr val="FFFFFF"/>
                          </a:solidFill>
                          <a:latin typeface="Calibri"/>
                        </a:rPr>
                        <a:t>Taha Khan</a:t>
                      </a:r>
                    </a:p>
                  </a:txBody>
                  <a:tcPr marL="45720" marR="45720" marT="9144" marB="9144" anchor="ctr"/>
                </a:tc>
                <a:tc>
                  <a:txBody>
                    <a:bodyPr/>
                    <a:lstStyle/>
                    <a:p>
                      <a:pPr algn="ctr"/>
                      <a:r>
                        <a:rPr sz="1100" b="1">
                          <a:solidFill>
                            <a:srgbClr val="FFFFFF"/>
                          </a:solidFill>
                          <a:latin typeface="Calibri"/>
                        </a:rPr>
                        <a:t>Muhammad</a:t>
                      </a:r>
                    </a:p>
                    <a:p>
                      <a:pPr algn="ctr"/>
                      <a:r>
                        <a:rPr sz="1100" b="1">
                          <a:solidFill>
                            <a:srgbClr val="FFFFFF"/>
                          </a:solidFill>
                          <a:latin typeface="Calibri"/>
                        </a:rPr>
                        <a:t>Usman Afzal</a:t>
                      </a:r>
                    </a:p>
                  </a:txBody>
                  <a:tcPr marL="45720" marR="45720" marT="9144" marB="9144" anchor="ctr"/>
                </a:tc>
                <a:tc>
                  <a:txBody>
                    <a:bodyPr/>
                    <a:lstStyle/>
                    <a:p>
                      <a:pPr algn="ctr"/>
                      <a:r>
                        <a:rPr sz="1100" b="1">
                          <a:solidFill>
                            <a:srgbClr val="FFFFFF"/>
                          </a:solidFill>
                          <a:latin typeface="Calibri"/>
                        </a:rPr>
                        <a:t>Supervisor</a:t>
                      </a:r>
                    </a:p>
                  </a:txBody>
                  <a:tcPr marL="45720" marR="45720" marT="9144" marB="9144" anchor="ctr"/>
                </a:tc>
                <a:extLst>
                  <a:ext uri="{0D108BD9-81ED-4DB2-BD59-A6C34878D82A}">
                    <a16:rowId xmlns:a16="http://schemas.microsoft.com/office/drawing/2014/main" val="10000"/>
                  </a:ext>
                </a:extLst>
              </a:tr>
              <a:tr h="310262">
                <a:tc>
                  <a:txBody>
                    <a:bodyPr/>
                    <a:lstStyle/>
                    <a:p>
                      <a:pPr algn="l"/>
                      <a:r>
                        <a:rPr sz="1100" b="0" dirty="0">
                          <a:solidFill>
                            <a:srgbClr val="202020"/>
                          </a:solidFill>
                          <a:latin typeface="Calibri"/>
                        </a:rPr>
                        <a:t>Requirements &amp; Literature Review</a:t>
                      </a:r>
                    </a:p>
                  </a:txBody>
                  <a:tcPr marL="45720" marR="45720" marT="9144" marB="9144" anchor="ctr"/>
                </a:tc>
                <a:tc>
                  <a:txBody>
                    <a:bodyPr/>
                    <a:lstStyle/>
                    <a:p>
                      <a:pPr algn="ctr"/>
                      <a:r>
                        <a:rPr sz="1200" b="1">
                          <a:solidFill>
                            <a:srgbClr val="606060"/>
                          </a:solidFill>
                          <a:latin typeface="Calibri"/>
                        </a:rPr>
                        <a:t>C</a:t>
                      </a:r>
                    </a:p>
                  </a:txBody>
                  <a:tcPr marL="45720" marR="45720" marT="9144" marB="9144" anchor="ctr"/>
                </a:tc>
                <a:tc>
                  <a:txBody>
                    <a:bodyPr/>
                    <a:lstStyle/>
                    <a:p>
                      <a:pPr algn="ctr"/>
                      <a:r>
                        <a:rPr sz="1200" b="1">
                          <a:solidFill>
                            <a:srgbClr val="1F63A8"/>
                          </a:solidFill>
                          <a:latin typeface="Calibri"/>
                        </a:rPr>
                        <a:t>R</a:t>
                      </a:r>
                    </a:p>
                  </a:txBody>
                  <a:tcPr marL="45720" marR="45720" marT="9144" marB="9144" anchor="ctr"/>
                </a:tc>
                <a:tc>
                  <a:txBody>
                    <a:bodyPr/>
                    <a:lstStyle/>
                    <a:p>
                      <a:pPr algn="ctr"/>
                      <a:r>
                        <a:rPr sz="1200" b="1">
                          <a:solidFill>
                            <a:srgbClr val="1F63A8"/>
                          </a:solidFill>
                          <a:latin typeface="Calibri"/>
                        </a:rPr>
                        <a:t>R</a:t>
                      </a:r>
                    </a:p>
                  </a:txBody>
                  <a:tcPr marL="45720" marR="45720" marT="9144" marB="9144" anchor="ctr"/>
                </a:tc>
                <a:tc>
                  <a:txBody>
                    <a:bodyPr/>
                    <a:lstStyle/>
                    <a:p>
                      <a:pPr algn="ctr"/>
                      <a:r>
                        <a:rPr sz="1200" b="1">
                          <a:solidFill>
                            <a:srgbClr val="B85450"/>
                          </a:solidFill>
                          <a:latin typeface="Calibri"/>
                        </a:rPr>
                        <a:t>A</a:t>
                      </a:r>
                    </a:p>
                  </a:txBody>
                  <a:tcPr marL="45720" marR="45720" marT="9144" marB="9144" anchor="ctr"/>
                </a:tc>
                <a:extLst>
                  <a:ext uri="{0D108BD9-81ED-4DB2-BD59-A6C34878D82A}">
                    <a16:rowId xmlns:a16="http://schemas.microsoft.com/office/drawing/2014/main" val="10001"/>
                  </a:ext>
                </a:extLst>
              </a:tr>
              <a:tr h="310262">
                <a:tc>
                  <a:txBody>
                    <a:bodyPr/>
                    <a:lstStyle/>
                    <a:p>
                      <a:pPr algn="l"/>
                      <a:r>
                        <a:rPr sz="1100" b="0" dirty="0">
                          <a:solidFill>
                            <a:srgbClr val="202020"/>
                          </a:solidFill>
                          <a:latin typeface="Calibri"/>
                        </a:rPr>
                        <a:t>System Architecture &amp; Design</a:t>
                      </a:r>
                    </a:p>
                  </a:txBody>
                  <a:tcPr marL="45720" marR="45720" marT="9144" marB="9144" anchor="ctr"/>
                </a:tc>
                <a:tc>
                  <a:txBody>
                    <a:bodyPr/>
                    <a:lstStyle/>
                    <a:p>
                      <a:pPr algn="ctr"/>
                      <a:r>
                        <a:rPr sz="1200" b="1">
                          <a:solidFill>
                            <a:srgbClr val="1F63A8"/>
                          </a:solidFill>
                          <a:latin typeface="Calibri"/>
                        </a:rPr>
                        <a:t>R</a:t>
                      </a:r>
                    </a:p>
                  </a:txBody>
                  <a:tcPr marL="45720" marR="45720" marT="9144" marB="9144" anchor="ctr"/>
                </a:tc>
                <a:tc>
                  <a:txBody>
                    <a:bodyPr/>
                    <a:lstStyle/>
                    <a:p>
                      <a:pPr algn="ctr"/>
                      <a:r>
                        <a:rPr sz="1200" b="1">
                          <a:solidFill>
                            <a:srgbClr val="606060"/>
                          </a:solidFill>
                          <a:latin typeface="Calibri"/>
                        </a:rPr>
                        <a:t>C</a:t>
                      </a:r>
                    </a:p>
                  </a:txBody>
                  <a:tcPr marL="45720" marR="45720" marT="9144" marB="9144" anchor="ctr"/>
                </a:tc>
                <a:tc>
                  <a:txBody>
                    <a:bodyPr/>
                    <a:lstStyle/>
                    <a:p>
                      <a:pPr algn="ctr"/>
                      <a:r>
                        <a:rPr sz="1200" b="1">
                          <a:solidFill>
                            <a:srgbClr val="606060"/>
                          </a:solidFill>
                          <a:latin typeface="Calibri"/>
                        </a:rPr>
                        <a:t>C</a:t>
                      </a:r>
                    </a:p>
                  </a:txBody>
                  <a:tcPr marL="45720" marR="45720" marT="9144" marB="9144" anchor="ctr"/>
                </a:tc>
                <a:tc>
                  <a:txBody>
                    <a:bodyPr/>
                    <a:lstStyle/>
                    <a:p>
                      <a:pPr algn="ctr"/>
                      <a:r>
                        <a:rPr sz="1200" b="1">
                          <a:solidFill>
                            <a:srgbClr val="B85450"/>
                          </a:solidFill>
                          <a:latin typeface="Calibri"/>
                        </a:rPr>
                        <a:t>A</a:t>
                      </a:r>
                    </a:p>
                  </a:txBody>
                  <a:tcPr marL="45720" marR="45720" marT="9144" marB="9144" anchor="ctr"/>
                </a:tc>
                <a:extLst>
                  <a:ext uri="{0D108BD9-81ED-4DB2-BD59-A6C34878D82A}">
                    <a16:rowId xmlns:a16="http://schemas.microsoft.com/office/drawing/2014/main" val="10002"/>
                  </a:ext>
                </a:extLst>
              </a:tr>
              <a:tr h="310262">
                <a:tc>
                  <a:txBody>
                    <a:bodyPr/>
                    <a:lstStyle/>
                    <a:p>
                      <a:pPr algn="l"/>
                      <a:r>
                        <a:rPr sz="1100" b="0" dirty="0" err="1">
                          <a:solidFill>
                            <a:srgbClr val="202020"/>
                          </a:solidFill>
                          <a:latin typeface="Calibri"/>
                        </a:rPr>
                        <a:t>SkiaSharp</a:t>
                      </a:r>
                      <a:r>
                        <a:rPr sz="1100" b="0" dirty="0">
                          <a:solidFill>
                            <a:srgbClr val="202020"/>
                          </a:solidFill>
                          <a:latin typeface="Calibri"/>
                        </a:rPr>
                        <a:t> Rendering Engine</a:t>
                      </a:r>
                    </a:p>
                  </a:txBody>
                  <a:tcPr marL="45720" marR="45720" marT="9144" marB="9144" anchor="ctr"/>
                </a:tc>
                <a:tc>
                  <a:txBody>
                    <a:bodyPr/>
                    <a:lstStyle/>
                    <a:p>
                      <a:pPr algn="ctr"/>
                      <a:r>
                        <a:rPr sz="1200" b="1">
                          <a:solidFill>
                            <a:srgbClr val="1F63A8"/>
                          </a:solidFill>
                          <a:latin typeface="Calibri"/>
                        </a:rPr>
                        <a:t>R</a:t>
                      </a:r>
                    </a:p>
                  </a:txBody>
                  <a:tcPr marL="45720" marR="45720" marT="9144" marB="9144" anchor="ctr"/>
                </a:tc>
                <a:tc>
                  <a:txBody>
                    <a:bodyPr/>
                    <a:lstStyle/>
                    <a:p>
                      <a:pPr algn="ctr"/>
                      <a:r>
                        <a:rPr sz="1200" b="1">
                          <a:solidFill>
                            <a:srgbClr val="606060"/>
                          </a:solidFill>
                          <a:latin typeface="Calibri"/>
                        </a:rPr>
                        <a:t>C</a:t>
                      </a:r>
                    </a:p>
                  </a:txBody>
                  <a:tcPr marL="45720" marR="45720" marT="9144" marB="9144" anchor="ctr"/>
                </a:tc>
                <a:tc>
                  <a:txBody>
                    <a:bodyPr/>
                    <a:lstStyle/>
                    <a:p>
                      <a:pPr algn="ctr"/>
                      <a:r>
                        <a:rPr sz="1200" b="1">
                          <a:solidFill>
                            <a:srgbClr val="969696"/>
                          </a:solidFill>
                          <a:latin typeface="Calibri"/>
                        </a:rPr>
                        <a:t>I</a:t>
                      </a:r>
                    </a:p>
                  </a:txBody>
                  <a:tcPr marL="45720" marR="45720" marT="9144" marB="9144" anchor="ctr"/>
                </a:tc>
                <a:tc>
                  <a:txBody>
                    <a:bodyPr/>
                    <a:lstStyle/>
                    <a:p>
                      <a:pPr algn="ctr"/>
                      <a:r>
                        <a:rPr sz="1200" b="1">
                          <a:solidFill>
                            <a:srgbClr val="B85450"/>
                          </a:solidFill>
                          <a:latin typeface="Calibri"/>
                        </a:rPr>
                        <a:t>A</a:t>
                      </a:r>
                    </a:p>
                  </a:txBody>
                  <a:tcPr marL="45720" marR="45720" marT="9144" marB="9144" anchor="ctr"/>
                </a:tc>
                <a:extLst>
                  <a:ext uri="{0D108BD9-81ED-4DB2-BD59-A6C34878D82A}">
                    <a16:rowId xmlns:a16="http://schemas.microsoft.com/office/drawing/2014/main" val="10003"/>
                  </a:ext>
                </a:extLst>
              </a:tr>
              <a:tr h="310262">
                <a:tc>
                  <a:txBody>
                    <a:bodyPr/>
                    <a:lstStyle/>
                    <a:p>
                      <a:pPr algn="l"/>
                      <a:r>
                        <a:rPr sz="1100" b="0">
                          <a:solidFill>
                            <a:srgbClr val="202020"/>
                          </a:solidFill>
                          <a:latin typeface="Calibri"/>
                        </a:rPr>
                        <a:t>Data Layer (CollectionView, Filter/Sort/Group)</a:t>
                      </a:r>
                    </a:p>
                  </a:txBody>
                  <a:tcPr marL="45720" marR="45720" marT="9144" marB="9144" anchor="ctr"/>
                </a:tc>
                <a:tc>
                  <a:txBody>
                    <a:bodyPr/>
                    <a:lstStyle/>
                    <a:p>
                      <a:pPr algn="ctr"/>
                      <a:r>
                        <a:rPr sz="1200" b="1">
                          <a:solidFill>
                            <a:srgbClr val="B85450"/>
                          </a:solidFill>
                          <a:latin typeface="Calibri"/>
                        </a:rPr>
                        <a:t>A</a:t>
                      </a:r>
                    </a:p>
                  </a:txBody>
                  <a:tcPr marL="45720" marR="45720" marT="9144" marB="9144" anchor="ctr"/>
                </a:tc>
                <a:tc>
                  <a:txBody>
                    <a:bodyPr/>
                    <a:lstStyle/>
                    <a:p>
                      <a:pPr algn="ctr"/>
                      <a:r>
                        <a:rPr sz="1200" b="1">
                          <a:solidFill>
                            <a:srgbClr val="1F63A8"/>
                          </a:solidFill>
                          <a:latin typeface="Calibri"/>
                        </a:rPr>
                        <a:t>R</a:t>
                      </a:r>
                    </a:p>
                  </a:txBody>
                  <a:tcPr marL="45720" marR="45720" marT="9144" marB="9144" anchor="ctr"/>
                </a:tc>
                <a:tc>
                  <a:txBody>
                    <a:bodyPr/>
                    <a:lstStyle/>
                    <a:p>
                      <a:pPr algn="ctr"/>
                      <a:r>
                        <a:rPr sz="1200" b="1">
                          <a:solidFill>
                            <a:srgbClr val="606060"/>
                          </a:solidFill>
                          <a:latin typeface="Calibri"/>
                        </a:rPr>
                        <a:t>C</a:t>
                      </a:r>
                    </a:p>
                  </a:txBody>
                  <a:tcPr marL="45720" marR="45720" marT="9144" marB="9144" anchor="ctr"/>
                </a:tc>
                <a:tc>
                  <a:txBody>
                    <a:bodyPr/>
                    <a:lstStyle/>
                    <a:p>
                      <a:pPr algn="ctr"/>
                      <a:r>
                        <a:rPr sz="1200" b="1">
                          <a:solidFill>
                            <a:srgbClr val="969696"/>
                          </a:solidFill>
                          <a:latin typeface="Calibri"/>
                        </a:rPr>
                        <a:t>I</a:t>
                      </a:r>
                    </a:p>
                  </a:txBody>
                  <a:tcPr marL="45720" marR="45720" marT="9144" marB="9144" anchor="ctr"/>
                </a:tc>
                <a:extLst>
                  <a:ext uri="{0D108BD9-81ED-4DB2-BD59-A6C34878D82A}">
                    <a16:rowId xmlns:a16="http://schemas.microsoft.com/office/drawing/2014/main" val="10004"/>
                  </a:ext>
                </a:extLst>
              </a:tr>
              <a:tr h="310262">
                <a:tc>
                  <a:txBody>
                    <a:bodyPr/>
                    <a:lstStyle/>
                    <a:p>
                      <a:pPr algn="l"/>
                      <a:r>
                        <a:rPr sz="1100" b="0">
                          <a:solidFill>
                            <a:srgbClr val="202020"/>
                          </a:solidFill>
                          <a:latin typeface="Calibri"/>
                        </a:rPr>
                        <a:t>Input &amp; Interaction (Mouse/Keyboard/Row Drag)</a:t>
                      </a:r>
                    </a:p>
                  </a:txBody>
                  <a:tcPr marL="45720" marR="45720" marT="9144" marB="9144" anchor="ctr"/>
                </a:tc>
                <a:tc>
                  <a:txBody>
                    <a:bodyPr/>
                    <a:lstStyle/>
                    <a:p>
                      <a:pPr algn="ctr"/>
                      <a:r>
                        <a:rPr sz="1200" b="1">
                          <a:solidFill>
                            <a:srgbClr val="B85450"/>
                          </a:solidFill>
                          <a:latin typeface="Calibri"/>
                        </a:rPr>
                        <a:t>A</a:t>
                      </a:r>
                    </a:p>
                  </a:txBody>
                  <a:tcPr marL="45720" marR="45720" marT="9144" marB="9144" anchor="ctr"/>
                </a:tc>
                <a:tc>
                  <a:txBody>
                    <a:bodyPr/>
                    <a:lstStyle/>
                    <a:p>
                      <a:pPr algn="ctr"/>
                      <a:r>
                        <a:rPr sz="1200" b="1">
                          <a:solidFill>
                            <a:srgbClr val="606060"/>
                          </a:solidFill>
                          <a:latin typeface="Calibri"/>
                        </a:rPr>
                        <a:t>C</a:t>
                      </a:r>
                    </a:p>
                  </a:txBody>
                  <a:tcPr marL="45720" marR="45720" marT="9144" marB="9144" anchor="ctr"/>
                </a:tc>
                <a:tc>
                  <a:txBody>
                    <a:bodyPr/>
                    <a:lstStyle/>
                    <a:p>
                      <a:pPr algn="ctr"/>
                      <a:r>
                        <a:rPr sz="1200" b="1">
                          <a:solidFill>
                            <a:srgbClr val="1F63A8"/>
                          </a:solidFill>
                          <a:latin typeface="Calibri"/>
                        </a:rPr>
                        <a:t>R</a:t>
                      </a:r>
                    </a:p>
                  </a:txBody>
                  <a:tcPr marL="45720" marR="45720" marT="9144" marB="9144" anchor="ctr"/>
                </a:tc>
                <a:tc>
                  <a:txBody>
                    <a:bodyPr/>
                    <a:lstStyle/>
                    <a:p>
                      <a:pPr algn="ctr"/>
                      <a:r>
                        <a:rPr sz="1200" b="1">
                          <a:solidFill>
                            <a:srgbClr val="969696"/>
                          </a:solidFill>
                          <a:latin typeface="Calibri"/>
                        </a:rPr>
                        <a:t>I</a:t>
                      </a:r>
                    </a:p>
                  </a:txBody>
                  <a:tcPr marL="45720" marR="45720" marT="9144" marB="9144" anchor="ctr"/>
                </a:tc>
                <a:extLst>
                  <a:ext uri="{0D108BD9-81ED-4DB2-BD59-A6C34878D82A}">
                    <a16:rowId xmlns:a16="http://schemas.microsoft.com/office/drawing/2014/main" val="10005"/>
                  </a:ext>
                </a:extLst>
              </a:tr>
              <a:tr h="310262">
                <a:tc>
                  <a:txBody>
                    <a:bodyPr/>
                    <a:lstStyle/>
                    <a:p>
                      <a:pPr algn="l"/>
                      <a:r>
                        <a:rPr sz="1100" b="0">
                          <a:solidFill>
                            <a:srgbClr val="202020"/>
                          </a:solidFill>
                          <a:latin typeface="Calibri"/>
                        </a:rPr>
                        <a:t>UI Automation &amp; Accessibility</a:t>
                      </a:r>
                    </a:p>
                  </a:txBody>
                  <a:tcPr marL="45720" marR="45720" marT="9144" marB="9144" anchor="ctr"/>
                </a:tc>
                <a:tc>
                  <a:txBody>
                    <a:bodyPr/>
                    <a:lstStyle/>
                    <a:p>
                      <a:pPr algn="ctr"/>
                      <a:r>
                        <a:rPr sz="1200" b="1">
                          <a:solidFill>
                            <a:srgbClr val="B85450"/>
                          </a:solidFill>
                          <a:latin typeface="Calibri"/>
                        </a:rPr>
                        <a:t>A</a:t>
                      </a:r>
                    </a:p>
                  </a:txBody>
                  <a:tcPr marL="45720" marR="45720" marT="9144" marB="9144" anchor="ctr"/>
                </a:tc>
                <a:tc>
                  <a:txBody>
                    <a:bodyPr/>
                    <a:lstStyle/>
                    <a:p>
                      <a:pPr algn="ctr"/>
                      <a:r>
                        <a:rPr sz="1200" b="1">
                          <a:solidFill>
                            <a:srgbClr val="606060"/>
                          </a:solidFill>
                          <a:latin typeface="Calibri"/>
                        </a:rPr>
                        <a:t>C</a:t>
                      </a:r>
                    </a:p>
                  </a:txBody>
                  <a:tcPr marL="45720" marR="45720" marT="9144" marB="9144" anchor="ctr"/>
                </a:tc>
                <a:tc>
                  <a:txBody>
                    <a:bodyPr/>
                    <a:lstStyle/>
                    <a:p>
                      <a:pPr algn="ctr"/>
                      <a:r>
                        <a:rPr sz="1200" b="1">
                          <a:solidFill>
                            <a:srgbClr val="1F63A8"/>
                          </a:solidFill>
                          <a:latin typeface="Calibri"/>
                        </a:rPr>
                        <a:t>R</a:t>
                      </a:r>
                    </a:p>
                  </a:txBody>
                  <a:tcPr marL="45720" marR="45720" marT="9144" marB="9144" anchor="ctr"/>
                </a:tc>
                <a:tc>
                  <a:txBody>
                    <a:bodyPr/>
                    <a:lstStyle/>
                    <a:p>
                      <a:pPr algn="ctr"/>
                      <a:r>
                        <a:rPr sz="1200" b="1">
                          <a:solidFill>
                            <a:srgbClr val="969696"/>
                          </a:solidFill>
                          <a:latin typeface="Calibri"/>
                        </a:rPr>
                        <a:t>I</a:t>
                      </a:r>
                    </a:p>
                  </a:txBody>
                  <a:tcPr marL="45720" marR="45720" marT="9144" marB="9144" anchor="ctr"/>
                </a:tc>
                <a:extLst>
                  <a:ext uri="{0D108BD9-81ED-4DB2-BD59-A6C34878D82A}">
                    <a16:rowId xmlns:a16="http://schemas.microsoft.com/office/drawing/2014/main" val="10006"/>
                  </a:ext>
                </a:extLst>
              </a:tr>
              <a:tr h="310262">
                <a:tc>
                  <a:txBody>
                    <a:bodyPr/>
                    <a:lstStyle/>
                    <a:p>
                      <a:pPr algn="l"/>
                      <a:r>
                        <a:rPr sz="1100" b="0">
                          <a:solidFill>
                            <a:srgbClr val="202020"/>
                          </a:solidFill>
                          <a:latin typeface="Calibri"/>
                        </a:rPr>
                        <a:t>Performance Benchmarking &amp; GridMetrics</a:t>
                      </a:r>
                    </a:p>
                  </a:txBody>
                  <a:tcPr marL="45720" marR="45720" marT="9144" marB="9144" anchor="ctr"/>
                </a:tc>
                <a:tc>
                  <a:txBody>
                    <a:bodyPr/>
                    <a:lstStyle/>
                    <a:p>
                      <a:pPr algn="ctr"/>
                      <a:r>
                        <a:rPr sz="1200" b="1">
                          <a:solidFill>
                            <a:srgbClr val="1F63A8"/>
                          </a:solidFill>
                          <a:latin typeface="Calibri"/>
                        </a:rPr>
                        <a:t>R</a:t>
                      </a:r>
                    </a:p>
                  </a:txBody>
                  <a:tcPr marL="45720" marR="45720" marT="9144" marB="9144" anchor="ctr"/>
                </a:tc>
                <a:tc>
                  <a:txBody>
                    <a:bodyPr/>
                    <a:lstStyle/>
                    <a:p>
                      <a:pPr algn="ctr"/>
                      <a:r>
                        <a:rPr sz="1200" b="1">
                          <a:solidFill>
                            <a:srgbClr val="B85450"/>
                          </a:solidFill>
                          <a:latin typeface="Calibri"/>
                        </a:rPr>
                        <a:t>A</a:t>
                      </a:r>
                    </a:p>
                  </a:txBody>
                  <a:tcPr marL="45720" marR="45720" marT="9144" marB="9144" anchor="ctr"/>
                </a:tc>
                <a:tc>
                  <a:txBody>
                    <a:bodyPr/>
                    <a:lstStyle/>
                    <a:p>
                      <a:pPr algn="ctr"/>
                      <a:r>
                        <a:rPr sz="1200" b="1">
                          <a:solidFill>
                            <a:srgbClr val="606060"/>
                          </a:solidFill>
                          <a:latin typeface="Calibri"/>
                        </a:rPr>
                        <a:t>C</a:t>
                      </a:r>
                    </a:p>
                  </a:txBody>
                  <a:tcPr marL="45720" marR="45720" marT="9144" marB="9144" anchor="ctr"/>
                </a:tc>
                <a:tc>
                  <a:txBody>
                    <a:bodyPr/>
                    <a:lstStyle/>
                    <a:p>
                      <a:pPr algn="ctr"/>
                      <a:r>
                        <a:rPr sz="1200" b="1">
                          <a:solidFill>
                            <a:srgbClr val="606060"/>
                          </a:solidFill>
                          <a:latin typeface="Calibri"/>
                        </a:rPr>
                        <a:t>C</a:t>
                      </a:r>
                    </a:p>
                  </a:txBody>
                  <a:tcPr marL="45720" marR="45720" marT="9144" marB="9144" anchor="ctr"/>
                </a:tc>
                <a:extLst>
                  <a:ext uri="{0D108BD9-81ED-4DB2-BD59-A6C34878D82A}">
                    <a16:rowId xmlns:a16="http://schemas.microsoft.com/office/drawing/2014/main" val="10007"/>
                  </a:ext>
                </a:extLst>
              </a:tr>
              <a:tr h="310262">
                <a:tc>
                  <a:txBody>
                    <a:bodyPr/>
                    <a:lstStyle/>
                    <a:p>
                      <a:pPr algn="l"/>
                      <a:r>
                        <a:rPr sz="1100" b="0">
                          <a:solidFill>
                            <a:srgbClr val="202020"/>
                          </a:solidFill>
                          <a:latin typeface="Calibri"/>
                        </a:rPr>
                        <a:t>Unit Testing &amp; QA (552 tests)</a:t>
                      </a:r>
                    </a:p>
                  </a:txBody>
                  <a:tcPr marL="45720" marR="45720" marT="9144" marB="9144" anchor="ctr"/>
                </a:tc>
                <a:tc>
                  <a:txBody>
                    <a:bodyPr/>
                    <a:lstStyle/>
                    <a:p>
                      <a:pPr algn="ctr"/>
                      <a:r>
                        <a:rPr sz="1200" b="1">
                          <a:solidFill>
                            <a:srgbClr val="606060"/>
                          </a:solidFill>
                          <a:latin typeface="Calibri"/>
                        </a:rPr>
                        <a:t>C</a:t>
                      </a:r>
                    </a:p>
                  </a:txBody>
                  <a:tcPr marL="45720" marR="45720" marT="9144" marB="9144" anchor="ctr"/>
                </a:tc>
                <a:tc>
                  <a:txBody>
                    <a:bodyPr/>
                    <a:lstStyle/>
                    <a:p>
                      <a:pPr algn="ctr"/>
                      <a:r>
                        <a:rPr sz="1200" b="1">
                          <a:solidFill>
                            <a:srgbClr val="1F63A8"/>
                          </a:solidFill>
                          <a:latin typeface="Calibri"/>
                        </a:rPr>
                        <a:t>R</a:t>
                      </a:r>
                    </a:p>
                  </a:txBody>
                  <a:tcPr marL="45720" marR="45720" marT="9144" marB="9144" anchor="ctr"/>
                </a:tc>
                <a:tc>
                  <a:txBody>
                    <a:bodyPr/>
                    <a:lstStyle/>
                    <a:p>
                      <a:pPr algn="ctr"/>
                      <a:r>
                        <a:rPr sz="1200" b="1">
                          <a:solidFill>
                            <a:srgbClr val="B85450"/>
                          </a:solidFill>
                          <a:latin typeface="Calibri"/>
                        </a:rPr>
                        <a:t>A</a:t>
                      </a:r>
                    </a:p>
                  </a:txBody>
                  <a:tcPr marL="45720" marR="45720" marT="9144" marB="9144" anchor="ctr"/>
                </a:tc>
                <a:tc>
                  <a:txBody>
                    <a:bodyPr/>
                    <a:lstStyle/>
                    <a:p>
                      <a:pPr algn="ctr"/>
                      <a:r>
                        <a:rPr sz="1200" b="1">
                          <a:solidFill>
                            <a:srgbClr val="606060"/>
                          </a:solidFill>
                          <a:latin typeface="Calibri"/>
                        </a:rPr>
                        <a:t>C</a:t>
                      </a:r>
                    </a:p>
                  </a:txBody>
                  <a:tcPr marL="45720" marR="45720" marT="9144" marB="9144" anchor="ctr"/>
                </a:tc>
                <a:extLst>
                  <a:ext uri="{0D108BD9-81ED-4DB2-BD59-A6C34878D82A}">
                    <a16:rowId xmlns:a16="http://schemas.microsoft.com/office/drawing/2014/main" val="10008"/>
                  </a:ext>
                </a:extLst>
              </a:tr>
              <a:tr h="310262">
                <a:tc>
                  <a:txBody>
                    <a:bodyPr/>
                    <a:lstStyle/>
                    <a:p>
                      <a:pPr algn="l"/>
                      <a:r>
                        <a:rPr sz="1100" b="0" dirty="0">
                          <a:solidFill>
                            <a:srgbClr val="202020"/>
                          </a:solidFill>
                          <a:latin typeface="Calibri"/>
                        </a:rPr>
                        <a:t>CI/CD Pipeline &amp; NuGet Release (v</a:t>
                      </a:r>
                      <a:r>
                        <a:rPr lang="en-US" sz="1100" b="0" dirty="0">
                          <a:solidFill>
                            <a:srgbClr val="202020"/>
                          </a:solidFill>
                          <a:latin typeface="Calibri"/>
                        </a:rPr>
                        <a:t>1.0.2</a:t>
                      </a:r>
                      <a:r>
                        <a:rPr sz="1100" b="0" dirty="0">
                          <a:solidFill>
                            <a:srgbClr val="202020"/>
                          </a:solidFill>
                          <a:latin typeface="Calibri"/>
                        </a:rPr>
                        <a:t>)</a:t>
                      </a:r>
                    </a:p>
                  </a:txBody>
                  <a:tcPr marL="45720" marR="45720" marT="9144" marB="9144" anchor="ctr"/>
                </a:tc>
                <a:tc>
                  <a:txBody>
                    <a:bodyPr/>
                    <a:lstStyle/>
                    <a:p>
                      <a:pPr algn="ctr"/>
                      <a:r>
                        <a:rPr sz="1200" b="1">
                          <a:solidFill>
                            <a:srgbClr val="1F63A8"/>
                          </a:solidFill>
                          <a:latin typeface="Calibri"/>
                        </a:rPr>
                        <a:t>R</a:t>
                      </a:r>
                    </a:p>
                  </a:txBody>
                  <a:tcPr marL="45720" marR="45720" marT="9144" marB="9144" anchor="ctr"/>
                </a:tc>
                <a:tc>
                  <a:txBody>
                    <a:bodyPr/>
                    <a:lstStyle/>
                    <a:p>
                      <a:pPr algn="ctr"/>
                      <a:r>
                        <a:rPr sz="1200" b="1">
                          <a:solidFill>
                            <a:srgbClr val="606060"/>
                          </a:solidFill>
                          <a:latin typeface="Calibri"/>
                        </a:rPr>
                        <a:t>C</a:t>
                      </a:r>
                    </a:p>
                  </a:txBody>
                  <a:tcPr marL="45720" marR="45720" marT="9144" marB="9144" anchor="ctr"/>
                </a:tc>
                <a:tc>
                  <a:txBody>
                    <a:bodyPr/>
                    <a:lstStyle/>
                    <a:p>
                      <a:pPr algn="ctr"/>
                      <a:r>
                        <a:rPr sz="1200" b="1">
                          <a:solidFill>
                            <a:srgbClr val="B85450"/>
                          </a:solidFill>
                          <a:latin typeface="Calibri"/>
                        </a:rPr>
                        <a:t>A</a:t>
                      </a:r>
                    </a:p>
                  </a:txBody>
                  <a:tcPr marL="45720" marR="45720" marT="9144" marB="9144" anchor="ctr"/>
                </a:tc>
                <a:tc>
                  <a:txBody>
                    <a:bodyPr/>
                    <a:lstStyle/>
                    <a:p>
                      <a:pPr algn="ctr"/>
                      <a:r>
                        <a:rPr sz="1200" b="1">
                          <a:solidFill>
                            <a:srgbClr val="969696"/>
                          </a:solidFill>
                          <a:latin typeface="Calibri"/>
                        </a:rPr>
                        <a:t>I</a:t>
                      </a:r>
                    </a:p>
                  </a:txBody>
                  <a:tcPr marL="45720" marR="45720" marT="9144" marB="9144" anchor="ctr"/>
                </a:tc>
                <a:extLst>
                  <a:ext uri="{0D108BD9-81ED-4DB2-BD59-A6C34878D82A}">
                    <a16:rowId xmlns:a16="http://schemas.microsoft.com/office/drawing/2014/main" val="10009"/>
                  </a:ext>
                </a:extLst>
              </a:tr>
              <a:tr h="310262">
                <a:tc>
                  <a:txBody>
                    <a:bodyPr/>
                    <a:lstStyle/>
                    <a:p>
                      <a:pPr algn="l"/>
                      <a:r>
                        <a:rPr sz="1100" b="0">
                          <a:solidFill>
                            <a:srgbClr val="202020"/>
                          </a:solidFill>
                          <a:latin typeface="Calibri"/>
                        </a:rPr>
                        <a:t>Documentation, SRS &amp; Defense Preparation</a:t>
                      </a:r>
                    </a:p>
                  </a:txBody>
                  <a:tcPr marL="45720" marR="45720" marT="9144" marB="9144" anchor="ctr"/>
                </a:tc>
                <a:tc>
                  <a:txBody>
                    <a:bodyPr/>
                    <a:lstStyle/>
                    <a:p>
                      <a:pPr algn="ctr"/>
                      <a:r>
                        <a:rPr sz="1200" b="1">
                          <a:solidFill>
                            <a:srgbClr val="606060"/>
                          </a:solidFill>
                          <a:latin typeface="Calibri"/>
                        </a:rPr>
                        <a:t>C</a:t>
                      </a:r>
                    </a:p>
                  </a:txBody>
                  <a:tcPr marL="45720" marR="45720" marT="9144" marB="9144" anchor="ctr"/>
                </a:tc>
                <a:tc>
                  <a:txBody>
                    <a:bodyPr/>
                    <a:lstStyle/>
                    <a:p>
                      <a:pPr algn="ctr"/>
                      <a:r>
                        <a:rPr sz="1200" b="1">
                          <a:solidFill>
                            <a:srgbClr val="1F63A8"/>
                          </a:solidFill>
                          <a:latin typeface="Calibri"/>
                        </a:rPr>
                        <a:t>R</a:t>
                      </a:r>
                    </a:p>
                  </a:txBody>
                  <a:tcPr marL="45720" marR="45720" marT="9144" marB="9144" anchor="ctr"/>
                </a:tc>
                <a:tc>
                  <a:txBody>
                    <a:bodyPr/>
                    <a:lstStyle/>
                    <a:p>
                      <a:pPr algn="ctr"/>
                      <a:r>
                        <a:rPr sz="1200" b="1">
                          <a:solidFill>
                            <a:srgbClr val="1F63A8"/>
                          </a:solidFill>
                          <a:latin typeface="Calibri"/>
                        </a:rPr>
                        <a:t>R</a:t>
                      </a:r>
                    </a:p>
                  </a:txBody>
                  <a:tcPr marL="45720" marR="45720" marT="9144" marB="9144" anchor="ctr"/>
                </a:tc>
                <a:tc>
                  <a:txBody>
                    <a:bodyPr/>
                    <a:lstStyle/>
                    <a:p>
                      <a:pPr algn="ctr"/>
                      <a:r>
                        <a:rPr sz="1200" b="1" dirty="0">
                          <a:solidFill>
                            <a:srgbClr val="B85450"/>
                          </a:solidFill>
                          <a:latin typeface="Calibri"/>
                        </a:rPr>
                        <a:t>A</a:t>
                      </a:r>
                    </a:p>
                  </a:txBody>
                  <a:tcPr marL="45720" marR="45720" marT="9144" marB="9144" anchor="ctr"/>
                </a:tc>
                <a:extLst>
                  <a:ext uri="{0D108BD9-81ED-4DB2-BD59-A6C34878D82A}">
                    <a16:rowId xmlns:a16="http://schemas.microsoft.com/office/drawing/2014/main" val="10010"/>
                  </a:ext>
                </a:extLst>
              </a:tr>
            </a:tbl>
          </a:graphicData>
        </a:graphic>
      </p:graphicFrame>
      <p:sp>
        <p:nvSpPr>
          <p:cNvPr id="8" name="TextBox 7"/>
          <p:cNvSpPr txBox="1"/>
          <p:nvPr/>
        </p:nvSpPr>
        <p:spPr>
          <a:xfrm>
            <a:off x="384048" y="5577840"/>
            <a:ext cx="8375904" cy="310896"/>
          </a:xfrm>
          <a:prstGeom prst="rect">
            <a:avLst/>
          </a:prstGeom>
          <a:noFill/>
        </p:spPr>
        <p:txBody>
          <a:bodyPr wrap="none">
            <a:spAutoFit/>
          </a:bodyPr>
          <a:lstStyle/>
          <a:p>
            <a:r>
              <a:rPr sz="1100" b="1">
                <a:solidFill>
                  <a:srgbClr val="404040"/>
                </a:solidFill>
              </a:rPr>
              <a:t>R = Responsible (does the work)      A = Accountable (owns the outcome)      C = Consulted      I = Informed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300" b="1"/>
              <a:t>Gantt Chart - 4 Phases, 8 Meetings</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11</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pic>
        <p:nvPicPr>
          <p:cNvPr id="7" name="Picture 6" descr="Gantt.png"/>
          <p:cNvPicPr>
            <a:picLocks noChangeAspect="1"/>
          </p:cNvPicPr>
          <p:nvPr/>
        </p:nvPicPr>
        <p:blipFill>
          <a:blip r:embed="rId3"/>
          <a:stretch>
            <a:fillRect/>
          </a:stretch>
        </p:blipFill>
        <p:spPr>
          <a:xfrm>
            <a:off x="143871" y="1600200"/>
            <a:ext cx="8771529" cy="4389120"/>
          </a:xfrm>
          <a:prstGeom prst="rect">
            <a:avLst/>
          </a:prstGeom>
        </p:spPr>
      </p:pic>
      <p:sp>
        <p:nvSpPr>
          <p:cNvPr id="8" name="TextBox 7"/>
          <p:cNvSpPr txBox="1"/>
          <p:nvPr/>
        </p:nvSpPr>
        <p:spPr>
          <a:xfrm>
            <a:off x="320040" y="6053328"/>
            <a:ext cx="8503920" cy="310896"/>
          </a:xfrm>
          <a:prstGeom prst="rect">
            <a:avLst/>
          </a:prstGeom>
          <a:noFill/>
        </p:spPr>
        <p:txBody>
          <a:bodyPr wrap="square">
            <a:spAutoFit/>
          </a:bodyPr>
          <a:lstStyle/>
          <a:p>
            <a:pPr algn="ctr"/>
            <a:r>
              <a:rPr sz="1100" b="1">
                <a:solidFill>
                  <a:srgbClr val="1F3864"/>
                </a:solidFill>
              </a:rPr>
              <a:t>Every row and date comes from the signed FYP Fortnightly Sign-off Sheet (project code 89223)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Budget / Costing</a:t>
            </a:r>
          </a:p>
        </p:txBody>
      </p:sp>
      <p:sp>
        <p:nvSpPr>
          <p:cNvPr id="3" name="Content Placeholder 2"/>
          <p:cNvSpPr>
            <a:spLocks noGrp="1"/>
          </p:cNvSpPr>
          <p:nvPr>
            <p:ph sz="quarter" idx="1"/>
          </p:nvPr>
        </p:nvSpPr>
        <p:spPr/>
        <p:txBody>
          <a:bodyPr/>
          <a:lstStyle/>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Development tools: primarily open-source / student-available tooling.</a:t>
            </a:r>
            <a:endParaRPr lang="en-US" dirty="0">
              <a:latin typeface="Calibri" panose="020F0502020204030204" pitchFamily="34" charset="0"/>
              <a:cs typeface="Calibri" panose="020F0502020204030204" pitchFamily="34" charset="0"/>
            </a:endParaRPr>
          </a:p>
          <a:p>
            <a:pPr>
              <a:lnSpc>
                <a:spcPct val="150000"/>
              </a:lnSpc>
              <a:buFont typeface="Wingdings" panose="05000000000000000000" pitchFamily="2" charset="2"/>
              <a:buChar char="v"/>
            </a:pPr>
            <a:r>
              <a:rPr sz="1800" dirty="0" err="1">
                <a:latin typeface="Calibri" panose="020F0502020204030204" pitchFamily="34" charset="0"/>
                <a:cs typeface="Calibri" panose="020F0502020204030204" pitchFamily="34" charset="0"/>
              </a:rPr>
              <a:t>SkiaSharp</a:t>
            </a:r>
            <a:r>
              <a:rPr sz="1800" dirty="0">
                <a:latin typeface="Calibri" panose="020F0502020204030204" pitchFamily="34" charset="0"/>
                <a:cs typeface="Calibri" panose="020F0502020204030204" pitchFamily="34" charset="0"/>
              </a:rPr>
              <a:t>: open-source graphics library.</a:t>
            </a:r>
          </a:p>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Cloud resources: use low-cost/free-tier resources where available for CI/CD, registry, and telemetry proof-of-concept.</a:t>
            </a:r>
          </a:p>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Expected FYP-I cost: minimal; exact cloud cost depends on selected services and usage.</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12</a:t>
            </a:fld>
            <a:endParaRPr lang="en-US" dirty="0"/>
          </a:p>
        </p:txBody>
      </p:sp>
      <p:sp>
        <p:nvSpPr>
          <p:cNvPr id="6" name="Date Placeholder 5"/>
          <p:cNvSpPr>
            <a:spLocks noGrp="1"/>
          </p:cNvSpPr>
          <p:nvPr>
            <p:ph type="dt" sz="half" idx="10"/>
          </p:nvPr>
        </p:nvSpPr>
        <p:spPr/>
        <p:txBody>
          <a:bodyPr/>
          <a:lstStyle/>
          <a:p>
            <a:pPr algn="ctr"/>
            <a:r>
              <a:rPr lang="en-US" dirty="0"/>
              <a:t>Hamdard University </a:t>
            </a:r>
          </a:p>
        </p:txBody>
      </p:sp>
    </p:spTree>
    <p:extLst>
      <p:ext uri="{BB962C8B-B14F-4D97-AF65-F5344CB8AC3E}">
        <p14:creationId xmlns:p14="http://schemas.microsoft.com/office/powerpoint/2010/main" val="88316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FYP Deliverables</a:t>
            </a:r>
          </a:p>
        </p:txBody>
      </p:sp>
      <p:sp>
        <p:nvSpPr>
          <p:cNvPr id="3" name="Content Placeholder 2"/>
          <p:cNvSpPr>
            <a:spLocks noGrp="1"/>
          </p:cNvSpPr>
          <p:nvPr>
            <p:ph sz="quarter" idx="1"/>
          </p:nvPr>
        </p:nvSpPr>
        <p:spPr/>
        <p:txBody>
          <a:bodyPr/>
          <a:lstStyle/>
          <a:p>
            <a:pPr>
              <a:buFont typeface="Wingdings" panose="05000000000000000000" pitchFamily="2" charset="2"/>
              <a:buChar char="v"/>
            </a:pPr>
            <a:r>
              <a:rPr sz="1500" dirty="0" err="1">
                <a:latin typeface="Calibri" panose="020F0502020204030204" pitchFamily="34" charset="0"/>
                <a:cs typeface="Calibri" panose="020F0502020204030204" pitchFamily="34" charset="0"/>
              </a:rPr>
              <a:t>FastGrid</a:t>
            </a:r>
            <a:r>
              <a:rPr sz="1500" dirty="0">
                <a:latin typeface="Calibri" panose="020F0502020204030204" pitchFamily="34" charset="0"/>
                <a:cs typeface="Calibri" panose="020F0502020204030204" pitchFamily="34" charset="0"/>
              </a:rPr>
              <a:t> WPF library, packaged as NuGet SkiaSharpControlV2 v</a:t>
            </a:r>
            <a:r>
              <a:rPr lang="en-US" sz="1500" dirty="0">
                <a:latin typeface="Calibri" panose="020F0502020204030204" pitchFamily="34" charset="0"/>
                <a:cs typeface="Calibri" panose="020F0502020204030204" pitchFamily="34" charset="0"/>
              </a:rPr>
              <a:t>1</a:t>
            </a:r>
            <a:r>
              <a:rPr sz="1500" dirty="0">
                <a:latin typeface="Calibri" panose="020F0502020204030204" pitchFamily="34" charset="0"/>
                <a:cs typeface="Calibri" panose="020F0502020204030204" pitchFamily="34" charset="0"/>
              </a:rPr>
              <a:t>.</a:t>
            </a:r>
            <a:r>
              <a:rPr lang="en-US" sz="1500" dirty="0">
                <a:latin typeface="Calibri" panose="020F0502020204030204" pitchFamily="34" charset="0"/>
                <a:cs typeface="Calibri" panose="020F0502020204030204" pitchFamily="34" charset="0"/>
              </a:rPr>
              <a:t>0</a:t>
            </a:r>
            <a:r>
              <a:rPr sz="1500" dirty="0">
                <a:latin typeface="Calibri" panose="020F0502020204030204" pitchFamily="34" charset="0"/>
                <a:cs typeface="Calibri" panose="020F0502020204030204" pitchFamily="34" charset="0"/>
              </a:rPr>
              <a:t>.</a:t>
            </a:r>
            <a:r>
              <a:rPr lang="en-US" sz="1500" dirty="0">
                <a:latin typeface="Calibri" panose="020F0502020204030204" pitchFamily="34" charset="0"/>
                <a:cs typeface="Calibri" panose="020F0502020204030204" pitchFamily="34" charset="0"/>
              </a:rPr>
              <a:t>2</a:t>
            </a:r>
            <a:r>
              <a:rPr sz="1500" dirty="0">
                <a:latin typeface="Calibri" panose="020F0502020204030204" pitchFamily="34" charset="0"/>
                <a:cs typeface="Calibri" panose="020F0502020204030204" pitchFamily="34" charset="0"/>
              </a:rPr>
              <a:t> (MIT).</a:t>
            </a:r>
            <a:endParaRPr lang="en-US" dirty="0">
              <a:latin typeface="Calibri" panose="020F0502020204030204" pitchFamily="34" charset="0"/>
              <a:cs typeface="Calibri" panose="020F0502020204030204" pitchFamily="34" charset="0"/>
            </a:endParaRPr>
          </a:p>
          <a:p>
            <a:pPr>
              <a:buFont typeface="Wingdings" panose="05000000000000000000" pitchFamily="2" charset="2"/>
              <a:buChar char="v"/>
            </a:pPr>
            <a:r>
              <a:rPr sz="1500" dirty="0" err="1">
                <a:latin typeface="Calibri" panose="020F0502020204030204" pitchFamily="34" charset="0"/>
                <a:cs typeface="Calibri" panose="020F0502020204030204" pitchFamily="34" charset="0"/>
              </a:rPr>
              <a:t>SkiaSharp-based immediate-mode grid renderer with 552 automated unit tests.</a:t>
            </a:r>
            <a:endParaRPr lang="en-US" dirty="0">
              <a:latin typeface="Calibri" panose="020F0502020204030204" pitchFamily="34" charset="0"/>
              <a:cs typeface="Calibri" panose="020F0502020204030204" pitchFamily="34" charset="0"/>
            </a:endParaRPr>
          </a:p>
          <a:p>
            <a:pPr>
              <a:buFont typeface="Wingdings" panose="05000000000000000000" pitchFamily="2" charset="2"/>
              <a:buChar char="v"/>
            </a:pPr>
            <a:r>
              <a:rPr sz="1500" dirty="0" err="1">
                <a:latin typeface="Calibri" panose="020F0502020204030204" pitchFamily="34" charset="0"/>
                <a:cs typeface="Calibri" panose="020F0502020204030204" pitchFamily="34" charset="0"/>
              </a:rPr>
              <a:t>Data/view and grid-management components, plus UI Automation accessibility support.</a:t>
            </a:r>
            <a:endParaRPr lang="en-US" dirty="0">
              <a:latin typeface="Calibri" panose="020F0502020204030204" pitchFamily="34" charset="0"/>
              <a:cs typeface="Calibri" panose="020F0502020204030204" pitchFamily="34" charset="0"/>
            </a:endParaRPr>
          </a:p>
          <a:p>
            <a:pPr>
              <a:buFont typeface="Wingdings" panose="05000000000000000000" pitchFamily="2" charset="2"/>
              <a:buChar char="v"/>
            </a:pPr>
            <a:r>
              <a:rPr sz="1500" dirty="0" err="1">
                <a:latin typeface="Calibri" panose="020F0502020204030204" pitchFamily="34" charset="0"/>
                <a:cs typeface="Calibri" panose="020F0502020204030204" pitchFamily="34" charset="0"/>
              </a:rPr>
              <a:t>Measured performance evidence: 2.59 ms at 100,000 rows and 2.75 ms at 1,000,000 rows.</a:t>
            </a:r>
            <a:endParaRPr lang="en-US" dirty="0">
              <a:latin typeface="Calibri" panose="020F0502020204030204" pitchFamily="34" charset="0"/>
              <a:cs typeface="Calibri" panose="020F0502020204030204" pitchFamily="34" charset="0"/>
            </a:endParaRPr>
          </a:p>
          <a:p>
            <a:pPr>
              <a:buFont typeface="Wingdings" panose="05000000000000000000" pitchFamily="2" charset="2"/>
              <a:buChar char="v"/>
            </a:pPr>
            <a:r>
              <a:rPr sz="1500" dirty="0" err="1">
                <a:latin typeface="Calibri" panose="020F0502020204030204" pitchFamily="34" charset="0"/>
                <a:cs typeface="Calibri" panose="020F0502020204030204" pitchFamily="34" charset="0"/>
              </a:rPr>
              <a:t>GitHub Actions CI/CD workflow and NuGet distribution.</a:t>
            </a:r>
            <a:endParaRPr lang="en-US" dirty="0">
              <a:latin typeface="Calibri" panose="020F0502020204030204" pitchFamily="34" charset="0"/>
              <a:cs typeface="Calibri" panose="020F0502020204030204" pitchFamily="34" charset="0"/>
            </a:endParaRPr>
          </a:p>
          <a:p>
            <a:pPr>
              <a:buFont typeface="Wingdings" panose="05000000000000000000" pitchFamily="2" charset="2"/>
              <a:buChar char="v"/>
            </a:pPr>
            <a:r>
              <a:rPr sz="1500" dirty="0" err="1">
                <a:latin typeface="Calibri" panose="020F0502020204030204" pitchFamily="34" charset="0"/>
                <a:cs typeface="Calibri" panose="020F0502020204030204" pitchFamily="34" charset="0"/>
              </a:rPr>
              <a:t>Documentation set: SRS, architecture diagram, DFD levels 0-2, deployment flow chart, Gantt chart, and a 306-member property/API reference.</a:t>
            </a:r>
            <a:endParaRPr lang="en-US" dirty="0">
              <a:latin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13</a:t>
            </a:fld>
            <a:endParaRPr lang="en-US" dirty="0"/>
          </a:p>
        </p:txBody>
      </p:sp>
      <p:sp>
        <p:nvSpPr>
          <p:cNvPr id="6" name="Date Placeholder 5"/>
          <p:cNvSpPr>
            <a:spLocks noGrp="1"/>
          </p:cNvSpPr>
          <p:nvPr>
            <p:ph type="dt" sz="half" idx="10"/>
          </p:nvPr>
        </p:nvSpPr>
        <p:spPr/>
        <p:txBody>
          <a:bodyPr/>
          <a:lstStyle/>
          <a:p>
            <a:pPr algn="ctr"/>
            <a:r>
              <a:rPr lang="en-US" dirty="0"/>
              <a:t>Hamdard University </a:t>
            </a:r>
          </a:p>
        </p:txBody>
      </p:sp>
      <p:graphicFrame>
        <p:nvGraphicFramePr>
          <p:cNvPr id="25" name="Diagram 24">
            <a:extLst>
              <a:ext uri="{FF2B5EF4-FFF2-40B4-BE49-F238E27FC236}">
                <a16:creationId xmlns:a16="http://schemas.microsoft.com/office/drawing/2014/main" id="{9CF80D84-4E42-8495-2E07-02E06D4FD473}"/>
              </a:ext>
            </a:extLst>
          </p:cNvPr>
          <p:cNvGraphicFramePr/>
          <p:nvPr>
            <p:extLst>
              <p:ext uri="{D42A27DB-BD31-4B8C-83A1-F6EECF244321}">
                <p14:modId xmlns:p14="http://schemas.microsoft.com/office/powerpoint/2010/main" val="1096193165"/>
              </p:ext>
            </p:extLst>
          </p:nvPr>
        </p:nvGraphicFramePr>
        <p:xfrm>
          <a:off x="2555748" y="3652935"/>
          <a:ext cx="4267200" cy="281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1842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9746B-B4A6-E89C-36B2-20B6EDE01D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E5FD4D-ACE7-E8F6-E92A-286923D60800}"/>
              </a:ext>
            </a:extLst>
          </p:cNvPr>
          <p:cNvSpPr>
            <a:spLocks noGrp="1"/>
          </p:cNvSpPr>
          <p:nvPr>
            <p:ph type="title"/>
          </p:nvPr>
        </p:nvSpPr>
        <p:spPr/>
        <p:txBody>
          <a:bodyPr/>
          <a:lstStyle/>
          <a:p>
            <a:r>
              <a:rPr sz="2600" b="1"/>
              <a:t>Literature Review &amp; Alternatives</a:t>
            </a:r>
          </a:p>
        </p:txBody>
      </p:sp>
      <p:sp>
        <p:nvSpPr>
          <p:cNvPr id="3" name="Content Placeholder 2">
            <a:extLst>
              <a:ext uri="{FF2B5EF4-FFF2-40B4-BE49-F238E27FC236}">
                <a16:creationId xmlns:a16="http://schemas.microsoft.com/office/drawing/2014/main" id="{8BAA305D-5E62-5373-4521-A4FD15AB09CC}"/>
              </a:ext>
            </a:extLst>
          </p:cNvPr>
          <p:cNvSpPr>
            <a:spLocks noGrp="1"/>
          </p:cNvSpPr>
          <p:nvPr>
            <p:ph sz="quarter" idx="1"/>
          </p:nvPr>
        </p:nvSpPr>
        <p:spPr/>
        <p:txBody>
          <a:bodyPr/>
          <a:lstStyle/>
          <a:p>
            <a:pPr>
              <a:buFont typeface="Wingdings" panose="05000000000000000000" pitchFamily="2" charset="2"/>
              <a:buChar char="v"/>
            </a:pPr>
            <a:r>
              <a:rPr sz="1800" dirty="0">
                <a:latin typeface="Calibri" panose="020F0502020204030204" pitchFamily="34" charset="0"/>
                <a:cs typeface="Calibri" panose="020F0502020204030204" pitchFamily="34" charset="0"/>
              </a:rPr>
              <a:t>Native WPF DataGrid: mature and integrated, but can incur visual-tree overhead at scale.</a:t>
            </a:r>
            <a:endParaRPr lang="en-US" dirty="0">
              <a:latin typeface="Calibri" panose="020F0502020204030204" pitchFamily="34" charset="0"/>
              <a:cs typeface="Calibri" panose="020F0502020204030204" pitchFamily="34" charset="0"/>
            </a:endParaRPr>
          </a:p>
          <a:p>
            <a:pPr>
              <a:buFont typeface="Wingdings" panose="05000000000000000000" pitchFamily="2" charset="2"/>
              <a:buChar char="v"/>
            </a:pPr>
            <a:r>
              <a:rPr sz="1800" dirty="0">
                <a:latin typeface="Calibri" panose="020F0502020204030204" pitchFamily="34" charset="0"/>
                <a:cs typeface="Calibri" panose="020F0502020204030204" pitchFamily="34" charset="0"/>
              </a:rPr>
              <a:t>Commercial grids such as DevExpress</a:t>
            </a:r>
            <a:r>
              <a:rPr lang="en-US" sz="1800" dirty="0">
                <a:latin typeface="Calibri" panose="020F0502020204030204" pitchFamily="34" charset="0"/>
                <a:cs typeface="Calibri" panose="020F0502020204030204" pitchFamily="34" charset="0"/>
              </a:rPr>
              <a:t>, Component1, Avalonia, Telerik</a:t>
            </a:r>
            <a:r>
              <a:rPr sz="1800" dirty="0">
                <a:latin typeface="Calibri" panose="020F0502020204030204" pitchFamily="34" charset="0"/>
                <a:cs typeface="Calibri" panose="020F0502020204030204" pitchFamily="34" charset="0"/>
              </a:rPr>
              <a:t> and </a:t>
            </a:r>
            <a:r>
              <a:rPr sz="1800" dirty="0" err="1">
                <a:latin typeface="Calibri" panose="020F0502020204030204" pitchFamily="34" charset="0"/>
                <a:cs typeface="Calibri" panose="020F0502020204030204" pitchFamily="34" charset="0"/>
              </a:rPr>
              <a:t>Syncfusion</a:t>
            </a:r>
            <a:r>
              <a:rPr sz="1800" dirty="0">
                <a:latin typeface="Calibri" panose="020F0502020204030204" pitchFamily="34" charset="0"/>
                <a:cs typeface="Calibri" panose="020F0502020204030204" pitchFamily="34" charset="0"/>
              </a:rPr>
              <a:t>: feature-rich</a:t>
            </a:r>
            <a:r>
              <a:rPr lang="en-US" sz="1800" dirty="0">
                <a:latin typeface="Calibri" panose="020F0502020204030204" pitchFamily="34" charset="0"/>
                <a:cs typeface="Calibri" panose="020F0502020204030204" pitchFamily="34" charset="0"/>
              </a:rPr>
              <a:t> but not providing accuracy</a:t>
            </a:r>
            <a:r>
              <a:rPr sz="1800" dirty="0">
                <a:latin typeface="Calibri" panose="020F0502020204030204" pitchFamily="34" charset="0"/>
                <a:cs typeface="Calibri" panose="020F0502020204030204" pitchFamily="34" charset="0"/>
              </a:rPr>
              <a:t>.</a:t>
            </a:r>
          </a:p>
          <a:p>
            <a:pPr>
              <a:buFont typeface="Wingdings" panose="05000000000000000000" pitchFamily="2" charset="2"/>
              <a:buChar char="v"/>
            </a:pPr>
            <a:r>
              <a:rPr sz="1800" dirty="0">
                <a:latin typeface="Calibri" panose="020F0502020204030204" pitchFamily="34" charset="0"/>
                <a:cs typeface="Calibri" panose="020F0502020204030204" pitchFamily="34" charset="0"/>
              </a:rPr>
              <a:t>Custom immediate-mode drawing: high control over rendering and performance, but requires more engineering.</a:t>
            </a:r>
          </a:p>
          <a:p>
            <a:pPr>
              <a:buFont typeface="Wingdings" panose="05000000000000000000" pitchFamily="2" charset="2"/>
              <a:buChar char="v"/>
            </a:pPr>
            <a:r>
              <a:rPr sz="1800" dirty="0" err="1">
                <a:latin typeface="Calibri" panose="020F0502020204030204" pitchFamily="34" charset="0"/>
                <a:cs typeface="Calibri" panose="020F0502020204030204" pitchFamily="34" charset="0"/>
              </a:rPr>
              <a:t>FastGrid</a:t>
            </a:r>
            <a:r>
              <a:rPr sz="1800" dirty="0">
                <a:latin typeface="Calibri" panose="020F0502020204030204" pitchFamily="34" charset="0"/>
                <a:cs typeface="Calibri" panose="020F0502020204030204" pitchFamily="34" charset="0"/>
              </a:rPr>
              <a:t> niche: a reusable WPF/NuGet component focused on lightweight, high-performance rendering plus cloud-native delivery.</a:t>
            </a:r>
          </a:p>
        </p:txBody>
      </p:sp>
      <p:sp>
        <p:nvSpPr>
          <p:cNvPr id="4" name="Footer Placeholder 3">
            <a:extLst>
              <a:ext uri="{FF2B5EF4-FFF2-40B4-BE49-F238E27FC236}">
                <a16:creationId xmlns:a16="http://schemas.microsoft.com/office/drawing/2014/main" id="{EB301A31-C183-093C-402D-3E47B8C37F1E}"/>
              </a:ext>
            </a:extLst>
          </p:cNvPr>
          <p:cNvSpPr>
            <a:spLocks noGrp="1"/>
          </p:cNvSpPr>
          <p:nvPr>
            <p:ph type="ftr" sz="quarter" idx="11"/>
          </p:nvPr>
        </p:nvSpPr>
        <p:spPr/>
        <p:txBody>
          <a:bodyPr/>
          <a:lstStyle/>
          <a:p>
            <a:r>
              <a:rPr sz="1000" b="0"/>
              <a:t>FastGrid</a:t>
            </a:r>
            <a:endParaRPr lang="en-US" dirty="0"/>
          </a:p>
        </p:txBody>
      </p:sp>
      <p:sp>
        <p:nvSpPr>
          <p:cNvPr id="5" name="Slide Number Placeholder 4">
            <a:extLst>
              <a:ext uri="{FF2B5EF4-FFF2-40B4-BE49-F238E27FC236}">
                <a16:creationId xmlns:a16="http://schemas.microsoft.com/office/drawing/2014/main" id="{7F1048C3-45FC-8545-5485-22C70A933592}"/>
              </a:ext>
            </a:extLst>
          </p:cNvPr>
          <p:cNvSpPr>
            <a:spLocks noGrp="1"/>
          </p:cNvSpPr>
          <p:nvPr>
            <p:ph type="sldNum" sz="quarter" idx="12"/>
          </p:nvPr>
        </p:nvSpPr>
        <p:spPr/>
        <p:txBody>
          <a:bodyPr>
            <a:normAutofit fontScale="62500" lnSpcReduction="20000"/>
          </a:bodyPr>
          <a:lstStyle/>
          <a:p>
            <a:fld id="{9EBC64C3-3FC7-4C40-910B-2643F037F02C}" type="slidenum">
              <a:rPr lang="en-US" smtClean="0"/>
              <a:pPr/>
              <a:t>14</a:t>
            </a:fld>
            <a:endParaRPr lang="en-US" dirty="0"/>
          </a:p>
        </p:txBody>
      </p:sp>
      <p:sp>
        <p:nvSpPr>
          <p:cNvPr id="6" name="Date Placeholder 5">
            <a:extLst>
              <a:ext uri="{FF2B5EF4-FFF2-40B4-BE49-F238E27FC236}">
                <a16:creationId xmlns:a16="http://schemas.microsoft.com/office/drawing/2014/main" id="{A7D9EF8D-D92F-1154-92DF-D4D3DD92B360}"/>
              </a:ext>
            </a:extLst>
          </p:cNvPr>
          <p:cNvSpPr>
            <a:spLocks noGrp="1"/>
          </p:cNvSpPr>
          <p:nvPr>
            <p:ph type="dt" sz="half" idx="10"/>
          </p:nvPr>
        </p:nvSpPr>
        <p:spPr/>
        <p:txBody>
          <a:bodyPr/>
          <a:lstStyle/>
          <a:p>
            <a:pPr algn="ctr"/>
            <a:r>
              <a:rPr lang="en-US" dirty="0"/>
              <a:t>Hamdard University </a:t>
            </a:r>
          </a:p>
        </p:txBody>
      </p:sp>
      <p:graphicFrame>
        <p:nvGraphicFramePr>
          <p:cNvPr id="17" name="Diagram 16">
            <a:extLst>
              <a:ext uri="{FF2B5EF4-FFF2-40B4-BE49-F238E27FC236}">
                <a16:creationId xmlns:a16="http://schemas.microsoft.com/office/drawing/2014/main" id="{91EDAC2A-F52F-A59E-F296-0434B1E91E00}"/>
              </a:ext>
            </a:extLst>
          </p:cNvPr>
          <p:cNvGraphicFramePr/>
          <p:nvPr>
            <p:extLst>
              <p:ext uri="{D42A27DB-BD31-4B8C-83A1-F6EECF244321}">
                <p14:modId xmlns:p14="http://schemas.microsoft.com/office/powerpoint/2010/main" val="3679281628"/>
              </p:ext>
            </p:extLst>
          </p:nvPr>
        </p:nvGraphicFramePr>
        <p:xfrm>
          <a:off x="3467100" y="3937000"/>
          <a:ext cx="2209800" cy="264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358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3A080-706B-B16C-9816-C409A197B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306E37-E162-A6F6-9392-FA6F0FE02C49}"/>
              </a:ext>
            </a:extLst>
          </p:cNvPr>
          <p:cNvSpPr>
            <a:spLocks noGrp="1"/>
          </p:cNvSpPr>
          <p:nvPr>
            <p:ph type="title"/>
          </p:nvPr>
        </p:nvSpPr>
        <p:spPr/>
        <p:txBody>
          <a:bodyPr/>
          <a:lstStyle/>
          <a:p>
            <a:r>
              <a:rPr sz="2400" b="1"/>
              <a:t>Demo of 30% Work - Proof of Concept</a:t>
            </a:r>
          </a:p>
        </p:txBody>
      </p:sp>
      <p:sp>
        <p:nvSpPr>
          <p:cNvPr id="3" name="Content Placeholder 2">
            <a:extLst>
              <a:ext uri="{FF2B5EF4-FFF2-40B4-BE49-F238E27FC236}">
                <a16:creationId xmlns:a16="http://schemas.microsoft.com/office/drawing/2014/main" id="{BA320ACB-2834-3551-8A1B-8A5F331FC870}"/>
              </a:ext>
            </a:extLst>
          </p:cNvPr>
          <p:cNvSpPr>
            <a:spLocks noGrp="1"/>
          </p:cNvSpPr>
          <p:nvPr>
            <p:ph sz="quarter" idx="1"/>
          </p:nvPr>
        </p:nvSpPr>
        <p:spPr/>
        <p:txBody>
          <a:bodyPr/>
          <a:lstStyle/>
          <a:p>
            <a:pPr>
              <a:lnSpc>
                <a:spcPct val="124000"/>
              </a:lnSpc>
              <a:buFont typeface="Wingdings" panose="05000000000000000000" pitchFamily="2" charset="2"/>
              <a:buChar char="v"/>
            </a:pPr>
            <a:r>
              <a:rPr sz="1400" dirty="0">
                <a:latin typeface="Calibri" panose="020F0502020204030204" pitchFamily="34" charset="0"/>
                <a:cs typeface="Calibri" panose="020F0502020204030204" pitchFamily="34" charset="0"/>
              </a:rPr>
              <a:t>Status: MORE than 30% of the planned work is complete - what follows is the working product, not a mock-up.</a:t>
            </a:r>
            <a:endParaRPr lang="en-US" dirty="0">
              <a:latin typeface="Calibri" panose="020F0502020204030204" pitchFamily="34" charset="0"/>
              <a:cs typeface="Calibri" panose="020F0502020204030204" pitchFamily="34" charset="0"/>
            </a:endParaRPr>
          </a:p>
          <a:p>
            <a:pPr>
              <a:lnSpc>
                <a:spcPct val="124000"/>
              </a:lnSpc>
              <a:buFont typeface="Wingdings" panose="05000000000000000000" pitchFamily="2" charset="2"/>
              <a:buChar char="v"/>
            </a:pPr>
            <a:r>
              <a:rPr sz="1400" dirty="0">
                <a:latin typeface="Calibri" panose="020F0502020204030204" pitchFamily="34" charset="0"/>
                <a:cs typeface="Calibri" panose="020F0502020204030204" pitchFamily="34" charset="0"/>
              </a:rPr>
              <a:t>100,000 rows generated and bound in 67 ms, then scrolled continuously: 2.59 ms average frame time, 4.00 ms at p95.</a:t>
            </a:r>
            <a:endParaRPr lang="en-US" dirty="0">
              <a:latin typeface="Calibri" panose="020F0502020204030204" pitchFamily="34" charset="0"/>
              <a:cs typeface="Calibri" panose="020F0502020204030204" pitchFamily="34" charset="0"/>
            </a:endParaRPr>
          </a:p>
          <a:p>
            <a:pPr>
              <a:lnSpc>
                <a:spcPct val="124000"/>
              </a:lnSpc>
              <a:buFont typeface="Wingdings" panose="05000000000000000000" pitchFamily="2" charset="2"/>
              <a:buChar char="v"/>
            </a:pPr>
            <a:r>
              <a:rPr sz="1400" dirty="0">
                <a:latin typeface="Calibri" panose="020F0502020204030204" pitchFamily="34" charset="0"/>
                <a:cs typeface="Calibri" panose="020F0502020204030204" pitchFamily="34" charset="0"/>
              </a:rPr>
              <a:t>1,000,000 rows: 2.75 ms average frame time - the SAME cost, because only ~250 cells are ever drawn per frame.</a:t>
            </a:r>
            <a:endParaRPr lang="en-US" dirty="0">
              <a:latin typeface="Calibri" panose="020F0502020204030204" pitchFamily="34" charset="0"/>
              <a:cs typeface="Calibri" panose="020F0502020204030204" pitchFamily="34" charset="0"/>
            </a:endParaRPr>
          </a:p>
          <a:p>
            <a:pPr>
              <a:lnSpc>
                <a:spcPct val="124000"/>
              </a:lnSpc>
              <a:buFont typeface="Wingdings" panose="05000000000000000000" pitchFamily="2" charset="2"/>
              <a:buChar char="v"/>
            </a:pPr>
            <a:r>
              <a:rPr sz="1400" dirty="0">
                <a:latin typeface="Calibri" panose="020F0502020204030204" pitchFamily="34" charset="0"/>
                <a:cs typeface="Calibri" panose="020F0502020204030204" pitchFamily="34" charset="0"/>
              </a:rPr>
              <a:t>All Features tab: every public property, method, event and command of the grid, driven live.</a:t>
            </a:r>
            <a:endParaRPr lang="en-US" dirty="0">
              <a:latin typeface="Calibri" panose="020F0502020204030204" pitchFamily="34" charset="0"/>
              <a:cs typeface="Calibri" panose="020F0502020204030204" pitchFamily="34" charset="0"/>
            </a:endParaRPr>
          </a:p>
          <a:p>
            <a:pPr>
              <a:lnSpc>
                <a:spcPct val="124000"/>
              </a:lnSpc>
              <a:buFont typeface="Wingdings" panose="05000000000000000000" pitchFamily="2" charset="2"/>
              <a:buChar char="v"/>
            </a:pPr>
            <a:r>
              <a:rPr sz="1400" dirty="0">
                <a:latin typeface="Calibri" panose="020F0502020204030204" pitchFamily="34" charset="0"/>
                <a:cs typeface="Calibri" panose="020F0502020204030204" pitchFamily="34" charset="0"/>
              </a:rPr>
              <a:t>Four independently streaming trading desks side by side (Watchlist, Time &amp; Sales, Trading Monitor, Options Chain).</a:t>
            </a:r>
            <a:endParaRPr lang="en-US" dirty="0">
              <a:latin typeface="Calibri" panose="020F0502020204030204" pitchFamily="34" charset="0"/>
              <a:cs typeface="Calibri" panose="020F0502020204030204" pitchFamily="34" charset="0"/>
            </a:endParaRPr>
          </a:p>
          <a:p>
            <a:pPr>
              <a:lnSpc>
                <a:spcPct val="124000"/>
              </a:lnSpc>
              <a:buFont typeface="Wingdings" panose="05000000000000000000" pitchFamily="2" charset="2"/>
              <a:buChar char="v"/>
            </a:pPr>
            <a:r>
              <a:rPr sz="1400" dirty="0">
                <a:latin typeface="Calibri" panose="020F0502020204030204" pitchFamily="34" charset="0"/>
                <a:cs typeface="Calibri" panose="020F0502020204030204" pitchFamily="34" charset="0"/>
              </a:rPr>
              <a:t>552 automated unit tests running green in Visual Studio Test Explorer.</a:t>
            </a:r>
            <a:endParaRPr lang="en-US" dirty="0">
              <a:latin typeface="Calibri" panose="020F0502020204030204" pitchFamily="34" charset="0"/>
              <a:cs typeface="Calibri" panose="020F0502020204030204" pitchFamily="34" charset="0"/>
            </a:endParaRPr>
          </a:p>
        </p:txBody>
      </p:sp>
      <p:sp>
        <p:nvSpPr>
          <p:cNvPr id="4" name="Footer Placeholder 3">
            <a:extLst>
              <a:ext uri="{FF2B5EF4-FFF2-40B4-BE49-F238E27FC236}">
                <a16:creationId xmlns:a16="http://schemas.microsoft.com/office/drawing/2014/main" id="{DDCA100B-5FE0-B5E1-9315-388C53DC2BC6}"/>
              </a:ext>
            </a:extLst>
          </p:cNvPr>
          <p:cNvSpPr>
            <a:spLocks noGrp="1"/>
          </p:cNvSpPr>
          <p:nvPr>
            <p:ph type="ftr" sz="quarter" idx="11"/>
          </p:nvPr>
        </p:nvSpPr>
        <p:spPr/>
        <p:txBody>
          <a:bodyPr/>
          <a:lstStyle/>
          <a:p>
            <a:r>
              <a:rPr sz="1000" b="0"/>
              <a:t>FastGrid</a:t>
            </a:r>
            <a:endParaRPr lang="en-US" dirty="0"/>
          </a:p>
        </p:txBody>
      </p:sp>
      <p:sp>
        <p:nvSpPr>
          <p:cNvPr id="5" name="Slide Number Placeholder 4">
            <a:extLst>
              <a:ext uri="{FF2B5EF4-FFF2-40B4-BE49-F238E27FC236}">
                <a16:creationId xmlns:a16="http://schemas.microsoft.com/office/drawing/2014/main" id="{A8326E0C-2E10-FA6A-C966-65FE8C0FE2BC}"/>
              </a:ext>
            </a:extLst>
          </p:cNvPr>
          <p:cNvSpPr>
            <a:spLocks noGrp="1"/>
          </p:cNvSpPr>
          <p:nvPr>
            <p:ph type="sldNum" sz="quarter" idx="12"/>
          </p:nvPr>
        </p:nvSpPr>
        <p:spPr/>
        <p:txBody>
          <a:bodyPr>
            <a:normAutofit fontScale="62500" lnSpcReduction="20000"/>
          </a:bodyPr>
          <a:lstStyle/>
          <a:p>
            <a:fld id="{9EBC64C3-3FC7-4C40-910B-2643F037F02C}" type="slidenum">
              <a:rPr lang="en-US" smtClean="0"/>
              <a:pPr/>
              <a:t>15</a:t>
            </a:fld>
            <a:endParaRPr lang="en-US" dirty="0"/>
          </a:p>
        </p:txBody>
      </p:sp>
      <p:sp>
        <p:nvSpPr>
          <p:cNvPr id="6" name="Date Placeholder 5">
            <a:extLst>
              <a:ext uri="{FF2B5EF4-FFF2-40B4-BE49-F238E27FC236}">
                <a16:creationId xmlns:a16="http://schemas.microsoft.com/office/drawing/2014/main" id="{11943BA5-9CB1-34E9-15AD-A632B45FFC3E}"/>
              </a:ext>
            </a:extLst>
          </p:cNvPr>
          <p:cNvSpPr>
            <a:spLocks noGrp="1"/>
          </p:cNvSpPr>
          <p:nvPr>
            <p:ph type="dt" sz="half" idx="10"/>
          </p:nvPr>
        </p:nvSpPr>
        <p:spPr/>
        <p:txBody>
          <a:bodyPr/>
          <a:lstStyle/>
          <a:p>
            <a:pPr algn="ctr"/>
            <a:r>
              <a:rPr lang="en-US" dirty="0"/>
              <a:t>Hamdard University </a:t>
            </a:r>
          </a:p>
        </p:txBody>
      </p:sp>
    </p:spTree>
    <p:extLst>
      <p:ext uri="{BB962C8B-B14F-4D97-AF65-F5344CB8AC3E}">
        <p14:creationId xmlns:p14="http://schemas.microsoft.com/office/powerpoint/2010/main" val="1371402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300" b="1"/>
              <a:t>Deployment Flow Chart - CI/CD</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16</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pic>
        <p:nvPicPr>
          <p:cNvPr id="7" name="Picture 6" descr="Deployment_CICD.png"/>
          <p:cNvPicPr>
            <a:picLocks noChangeAspect="1"/>
          </p:cNvPicPr>
          <p:nvPr/>
        </p:nvPicPr>
        <p:blipFill>
          <a:blip r:embed="rId3"/>
          <a:stretch>
            <a:fillRect/>
          </a:stretch>
        </p:blipFill>
        <p:spPr>
          <a:xfrm>
            <a:off x="152400" y="1828800"/>
            <a:ext cx="8671560" cy="4160520"/>
          </a:xfrm>
          <a:prstGeom prst="rect">
            <a:avLst/>
          </a:prstGeom>
        </p:spPr>
      </p:pic>
      <p:sp>
        <p:nvSpPr>
          <p:cNvPr id="8" name="TextBox 7"/>
          <p:cNvSpPr txBox="1"/>
          <p:nvPr/>
        </p:nvSpPr>
        <p:spPr>
          <a:xfrm>
            <a:off x="320040" y="6053328"/>
            <a:ext cx="8503920" cy="310896"/>
          </a:xfrm>
          <a:prstGeom prst="rect">
            <a:avLst/>
          </a:prstGeom>
          <a:noFill/>
        </p:spPr>
        <p:txBody>
          <a:bodyPr wrap="square">
            <a:spAutoFit/>
          </a:bodyPr>
          <a:lstStyle/>
          <a:p>
            <a:pPr algn="ctr"/>
            <a:r>
              <a:rPr sz="1100" b="1">
                <a:solidFill>
                  <a:srgbClr val="1F3864"/>
                </a:solidFill>
              </a:rPr>
              <a:t>Developer -&gt; GitHub -&gt; Actions runner (build, 552 tests, pack) -&gt; NuGet -&gt; consumer WPF app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300" b="1"/>
              <a:t>System Architecture</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17</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pic>
        <p:nvPicPr>
          <p:cNvPr id="7" name="Picture 6" descr="Architecture.png"/>
          <p:cNvPicPr>
            <a:picLocks noChangeAspect="1"/>
          </p:cNvPicPr>
          <p:nvPr/>
        </p:nvPicPr>
        <p:blipFill>
          <a:blip r:embed="rId3"/>
          <a:stretch>
            <a:fillRect/>
          </a:stretch>
        </p:blipFill>
        <p:spPr>
          <a:xfrm>
            <a:off x="1229499" y="1225296"/>
            <a:ext cx="6685001" cy="4764024"/>
          </a:xfrm>
          <a:prstGeom prst="rect">
            <a:avLst/>
          </a:prstGeom>
        </p:spPr>
      </p:pic>
      <p:sp>
        <p:nvSpPr>
          <p:cNvPr id="8" name="TextBox 7"/>
          <p:cNvSpPr txBox="1"/>
          <p:nvPr/>
        </p:nvSpPr>
        <p:spPr>
          <a:xfrm>
            <a:off x="320040" y="6053328"/>
            <a:ext cx="8503920" cy="310896"/>
          </a:xfrm>
          <a:prstGeom prst="rect">
            <a:avLst/>
          </a:prstGeom>
          <a:noFill/>
        </p:spPr>
        <p:txBody>
          <a:bodyPr wrap="square">
            <a:spAutoFit/>
          </a:bodyPr>
          <a:lstStyle/>
          <a:p>
            <a:pPr algn="ctr"/>
            <a:r>
              <a:rPr sz="1100" b="1">
                <a:solidFill>
                  <a:srgbClr val="1F3864"/>
                </a:solidFill>
              </a:rPr>
              <a:t>The grid body contains zero WPF visual elements - 100,000 rows are painted on one canvas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300" b="1"/>
              <a:t>Class Diagram - Core Control</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18</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pic>
        <p:nvPicPr>
          <p:cNvPr id="7" name="Picture 6" descr="ClassDiagram.png"/>
          <p:cNvPicPr>
            <a:picLocks noChangeAspect="1"/>
          </p:cNvPicPr>
          <p:nvPr/>
        </p:nvPicPr>
        <p:blipFill>
          <a:blip r:embed="rId3"/>
          <a:stretch>
            <a:fillRect/>
          </a:stretch>
        </p:blipFill>
        <p:spPr>
          <a:xfrm>
            <a:off x="1222295" y="1225296"/>
            <a:ext cx="6699408" cy="4764024"/>
          </a:xfrm>
          <a:prstGeom prst="rect">
            <a:avLst/>
          </a:prstGeom>
        </p:spPr>
      </p:pic>
      <p:sp>
        <p:nvSpPr>
          <p:cNvPr id="8" name="TextBox 7"/>
          <p:cNvSpPr txBox="1"/>
          <p:nvPr/>
        </p:nvSpPr>
        <p:spPr>
          <a:xfrm>
            <a:off x="320040" y="6053328"/>
            <a:ext cx="8503920" cy="310896"/>
          </a:xfrm>
          <a:prstGeom prst="rect">
            <a:avLst/>
          </a:prstGeom>
          <a:noFill/>
        </p:spPr>
        <p:txBody>
          <a:bodyPr wrap="square">
            <a:spAutoFit/>
          </a:bodyPr>
          <a:lstStyle/>
          <a:p>
            <a:pPr algn="ctr"/>
            <a:r>
              <a:rPr sz="1100" b="1">
                <a:solidFill>
                  <a:srgbClr val="1F3864"/>
                </a:solidFill>
              </a:rPr>
              <a:t>7 managers + 7 renderers + the data layer, all owned and disposed by SkiaGridViewV2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300" b="1"/>
              <a:t>Sequence Diagram - Paint Cycle</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19</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pic>
        <p:nvPicPr>
          <p:cNvPr id="7" name="Picture 6" descr="SequenceDiagram.png"/>
          <p:cNvPicPr>
            <a:picLocks noChangeAspect="1"/>
          </p:cNvPicPr>
          <p:nvPr/>
        </p:nvPicPr>
        <p:blipFill>
          <a:blip r:embed="rId3"/>
          <a:stretch>
            <a:fillRect/>
          </a:stretch>
        </p:blipFill>
        <p:spPr>
          <a:xfrm>
            <a:off x="979457" y="1225296"/>
            <a:ext cx="7185085" cy="4764024"/>
          </a:xfrm>
          <a:prstGeom prst="rect">
            <a:avLst/>
          </a:prstGeom>
        </p:spPr>
      </p:pic>
      <p:sp>
        <p:nvSpPr>
          <p:cNvPr id="8" name="TextBox 7"/>
          <p:cNvSpPr txBox="1"/>
          <p:nvPr/>
        </p:nvSpPr>
        <p:spPr>
          <a:xfrm>
            <a:off x="320040" y="6053328"/>
            <a:ext cx="8503920" cy="310896"/>
          </a:xfrm>
          <a:prstGeom prst="rect">
            <a:avLst/>
          </a:prstGeom>
          <a:noFill/>
        </p:spPr>
        <p:txBody>
          <a:bodyPr wrap="square">
            <a:spAutoFit/>
          </a:bodyPr>
          <a:lstStyle/>
          <a:p>
            <a:pPr algn="ctr"/>
            <a:r>
              <a:rPr sz="1100" b="1">
                <a:solidFill>
                  <a:srgbClr val="1F3864"/>
                </a:solidFill>
              </a:rPr>
              <a:t>PaintSurface -&gt; visible window -&gt; evaluate triggers -&gt; draw ~250 cells -&gt; present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300" b="1"/>
              <a:t>Data Flow Diagram - Level 0 (Context)</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20</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pic>
        <p:nvPicPr>
          <p:cNvPr id="7" name="Picture 6" descr="DFD_Level0.png"/>
          <p:cNvPicPr>
            <a:picLocks noChangeAspect="1"/>
          </p:cNvPicPr>
          <p:nvPr/>
        </p:nvPicPr>
        <p:blipFill>
          <a:blip r:embed="rId3"/>
          <a:stretch>
            <a:fillRect/>
          </a:stretch>
        </p:blipFill>
        <p:spPr>
          <a:xfrm>
            <a:off x="948207" y="1225296"/>
            <a:ext cx="7247584" cy="512978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300" b="1"/>
              <a:t>Data Flow Diagram - Level 1</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21</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pic>
        <p:nvPicPr>
          <p:cNvPr id="7" name="Picture 6" descr="DFD_Level1.png"/>
          <p:cNvPicPr>
            <a:picLocks noChangeAspect="1"/>
          </p:cNvPicPr>
          <p:nvPr/>
        </p:nvPicPr>
        <p:blipFill>
          <a:blip r:embed="rId3"/>
          <a:stretch>
            <a:fillRect/>
          </a:stretch>
        </p:blipFill>
        <p:spPr>
          <a:xfrm>
            <a:off x="762380" y="1225296"/>
            <a:ext cx="7619238" cy="512978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300" b="1"/>
              <a:t>System Process Flow</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22</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pic>
        <p:nvPicPr>
          <p:cNvPr id="7" name="Picture 6" descr="System_Process.png"/>
          <p:cNvPicPr>
            <a:picLocks noChangeAspect="1"/>
          </p:cNvPicPr>
          <p:nvPr/>
        </p:nvPicPr>
        <p:blipFill>
          <a:blip r:embed="rId3"/>
          <a:stretch>
            <a:fillRect/>
          </a:stretch>
        </p:blipFill>
        <p:spPr>
          <a:xfrm>
            <a:off x="1594485" y="1225296"/>
            <a:ext cx="5955030" cy="4764024"/>
          </a:xfrm>
          <a:prstGeom prst="rect">
            <a:avLst/>
          </a:prstGeom>
        </p:spPr>
      </p:pic>
      <p:sp>
        <p:nvSpPr>
          <p:cNvPr id="8" name="TextBox 7"/>
          <p:cNvSpPr txBox="1"/>
          <p:nvPr/>
        </p:nvSpPr>
        <p:spPr>
          <a:xfrm>
            <a:off x="320040" y="6053328"/>
            <a:ext cx="8503920" cy="310896"/>
          </a:xfrm>
          <a:prstGeom prst="rect">
            <a:avLst/>
          </a:prstGeom>
          <a:noFill/>
        </p:spPr>
        <p:txBody>
          <a:bodyPr wrap="square">
            <a:spAutoFit/>
          </a:bodyPr>
          <a:lstStyle/>
          <a:p>
            <a:pPr algn="ctr"/>
            <a:r>
              <a:rPr sz="1100" b="1">
                <a:solidFill>
                  <a:srgbClr val="1F3864"/>
                </a:solidFill>
              </a:rPr>
              <a:t>Bind -&gt; filter -&gt; sort -&gt; group -&gt; flatten -&gt; compute visible window -&gt; draw -&gt; present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300" b="1"/>
              <a:t>Screenshots - 100,000 / 1,000,000 Row Benchmark</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23</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pic>
        <p:nvPicPr>
          <p:cNvPr id="7" name="Picture 6" descr="01_stress_100k.png"/>
          <p:cNvPicPr>
            <a:picLocks noChangeAspect="1"/>
          </p:cNvPicPr>
          <p:nvPr/>
        </p:nvPicPr>
        <p:blipFill>
          <a:blip r:embed="rId3"/>
          <a:stretch>
            <a:fillRect/>
          </a:stretch>
        </p:blipFill>
        <p:spPr>
          <a:xfrm>
            <a:off x="1068650" y="1225296"/>
            <a:ext cx="7006699" cy="3716220"/>
          </a:xfrm>
          <a:prstGeom prst="rect">
            <a:avLst/>
          </a:prstGeom>
        </p:spPr>
      </p:pic>
      <p:pic>
        <p:nvPicPr>
          <p:cNvPr id="8" name="Picture 7" descr="02_stress_1million_headline.png"/>
          <p:cNvPicPr>
            <a:picLocks noChangeAspect="1"/>
          </p:cNvPicPr>
          <p:nvPr/>
        </p:nvPicPr>
        <p:blipFill>
          <a:blip r:embed="rId4"/>
          <a:stretch>
            <a:fillRect/>
          </a:stretch>
        </p:blipFill>
        <p:spPr>
          <a:xfrm>
            <a:off x="1068650" y="5051244"/>
            <a:ext cx="7006699" cy="938075"/>
          </a:xfrm>
          <a:prstGeom prst="rect">
            <a:avLst/>
          </a:prstGeom>
        </p:spPr>
      </p:pic>
      <p:sp>
        <p:nvSpPr>
          <p:cNvPr id="9" name="TextBox 8"/>
          <p:cNvSpPr txBox="1"/>
          <p:nvPr/>
        </p:nvSpPr>
        <p:spPr>
          <a:xfrm>
            <a:off x="320040" y="6053328"/>
            <a:ext cx="8503920" cy="310896"/>
          </a:xfrm>
          <a:prstGeom prst="rect">
            <a:avLst/>
          </a:prstGeom>
          <a:noFill/>
        </p:spPr>
        <p:txBody>
          <a:bodyPr wrap="square">
            <a:spAutoFit/>
          </a:bodyPr>
          <a:lstStyle/>
          <a:p>
            <a:pPr algn="ctr"/>
            <a:r>
              <a:rPr sz="1100" b="1">
                <a:solidFill>
                  <a:srgbClr val="1F3864"/>
                </a:solidFill>
              </a:rPr>
              <a:t>100,000 rows bound in 67 ms at 2.59 ms/frame  |  1,000,000 rows at 2.75 ms/frame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300" b="1"/>
              <a:t>Screenshots - All Features (complete API coverage)</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24</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pic>
        <p:nvPicPr>
          <p:cNvPr id="7" name="Picture 6" descr="05_all_features_grouped.png"/>
          <p:cNvPicPr>
            <a:picLocks noChangeAspect="1"/>
          </p:cNvPicPr>
          <p:nvPr/>
        </p:nvPicPr>
        <p:blipFill>
          <a:blip r:embed="rId3"/>
          <a:stretch>
            <a:fillRect/>
          </a:stretch>
        </p:blipFill>
        <p:spPr>
          <a:xfrm>
            <a:off x="274320" y="2525077"/>
            <a:ext cx="4206240" cy="2164461"/>
          </a:xfrm>
          <a:prstGeom prst="rect">
            <a:avLst/>
          </a:prstGeom>
        </p:spPr>
      </p:pic>
      <p:pic>
        <p:nvPicPr>
          <p:cNvPr id="8" name="Picture 7" descr="06_all_features_theme_filter.png"/>
          <p:cNvPicPr>
            <a:picLocks noChangeAspect="1"/>
          </p:cNvPicPr>
          <p:nvPr/>
        </p:nvPicPr>
        <p:blipFill>
          <a:blip r:embed="rId4"/>
          <a:stretch>
            <a:fillRect/>
          </a:stretch>
        </p:blipFill>
        <p:spPr>
          <a:xfrm>
            <a:off x="4663440" y="2525077"/>
            <a:ext cx="4206240" cy="2164461"/>
          </a:xfrm>
          <a:prstGeom prst="rect">
            <a:avLst/>
          </a:prstGeom>
        </p:spPr>
      </p:pic>
      <p:sp>
        <p:nvSpPr>
          <p:cNvPr id="9" name="TextBox 8"/>
          <p:cNvSpPr txBox="1"/>
          <p:nvPr/>
        </p:nvSpPr>
        <p:spPr>
          <a:xfrm>
            <a:off x="320040" y="6053328"/>
            <a:ext cx="8503920" cy="310896"/>
          </a:xfrm>
          <a:prstGeom prst="rect">
            <a:avLst/>
          </a:prstGeom>
          <a:noFill/>
        </p:spPr>
        <p:txBody>
          <a:bodyPr wrap="square">
            <a:spAutoFit/>
          </a:bodyPr>
          <a:lstStyle/>
          <a:p>
            <a:pPr algn="ctr"/>
            <a:r>
              <a:rPr sz="1100" b="1">
                <a:solidFill>
                  <a:srgbClr val="1F3864"/>
                </a:solidFill>
              </a:rPr>
              <a:t>One tab that exercises all 306 public API members - properties, methods, events and commands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300" b="1"/>
              <a:t>Screenshots - Instrumentation &amp; Feature Breadth</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25</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pic>
        <p:nvPicPr>
          <p:cNvPr id="7" name="Picture 6" descr="07_performance_dashboard.png"/>
          <p:cNvPicPr>
            <a:picLocks noChangeAspect="1"/>
          </p:cNvPicPr>
          <p:nvPr/>
        </p:nvPicPr>
        <p:blipFill>
          <a:blip r:embed="rId3"/>
          <a:stretch>
            <a:fillRect/>
          </a:stretch>
        </p:blipFill>
        <p:spPr>
          <a:xfrm>
            <a:off x="274320" y="2525077"/>
            <a:ext cx="4206240" cy="2164461"/>
          </a:xfrm>
          <a:prstGeom prst="rect">
            <a:avLst/>
          </a:prstGeom>
        </p:spPr>
      </p:pic>
      <p:pic>
        <p:nvPicPr>
          <p:cNvPr id="8" name="Picture 7" descr="08_collectionview_features.png"/>
          <p:cNvPicPr>
            <a:picLocks noChangeAspect="1"/>
          </p:cNvPicPr>
          <p:nvPr/>
        </p:nvPicPr>
        <p:blipFill>
          <a:blip r:embed="rId4"/>
          <a:stretch>
            <a:fillRect/>
          </a:stretch>
        </p:blipFill>
        <p:spPr>
          <a:xfrm>
            <a:off x="4663440" y="2525077"/>
            <a:ext cx="4206240" cy="2164461"/>
          </a:xfrm>
          <a:prstGeom prst="rect">
            <a:avLst/>
          </a:prstGeom>
        </p:spPr>
      </p:pic>
      <p:sp>
        <p:nvSpPr>
          <p:cNvPr id="9" name="TextBox 8"/>
          <p:cNvSpPr txBox="1"/>
          <p:nvPr/>
        </p:nvSpPr>
        <p:spPr>
          <a:xfrm>
            <a:off x="320040" y="6053328"/>
            <a:ext cx="8503920" cy="310896"/>
          </a:xfrm>
          <a:prstGeom prst="rect">
            <a:avLst/>
          </a:prstGeom>
          <a:noFill/>
        </p:spPr>
        <p:txBody>
          <a:bodyPr wrap="square">
            <a:spAutoFit/>
          </a:bodyPr>
          <a:lstStyle/>
          <a:p>
            <a:pPr algn="ctr"/>
            <a:r>
              <a:rPr sz="1100" b="1">
                <a:solidFill>
                  <a:srgbClr val="1F3864"/>
                </a:solidFill>
              </a:rPr>
              <a:t>Measurement is built into the control, not bolted on afterwards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300" b="1"/>
              <a:t>Screenshots - Four Live Trading Desks</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26</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pic>
        <p:nvPicPr>
          <p:cNvPr id="7" name="Picture 6" descr="13_multiwindow_tile4.png"/>
          <p:cNvPicPr>
            <a:picLocks noChangeAspect="1"/>
          </p:cNvPicPr>
          <p:nvPr/>
        </p:nvPicPr>
        <p:blipFill>
          <a:blip r:embed="rId3"/>
          <a:stretch>
            <a:fillRect/>
          </a:stretch>
        </p:blipFill>
        <p:spPr>
          <a:xfrm>
            <a:off x="274320" y="1395793"/>
            <a:ext cx="8595360" cy="4423029"/>
          </a:xfrm>
          <a:prstGeom prst="rect">
            <a:avLst/>
          </a:prstGeom>
        </p:spPr>
      </p:pic>
      <p:sp>
        <p:nvSpPr>
          <p:cNvPr id="8" name="TextBox 7"/>
          <p:cNvSpPr txBox="1"/>
          <p:nvPr/>
        </p:nvSpPr>
        <p:spPr>
          <a:xfrm>
            <a:off x="320040" y="6053328"/>
            <a:ext cx="8503920" cy="310896"/>
          </a:xfrm>
          <a:prstGeom prst="rect">
            <a:avLst/>
          </a:prstGeom>
          <a:noFill/>
        </p:spPr>
        <p:txBody>
          <a:bodyPr wrap="square">
            <a:spAutoFit/>
          </a:bodyPr>
          <a:lstStyle/>
          <a:p>
            <a:pPr algn="ctr"/>
            <a:r>
              <a:rPr sz="1100" b="1">
                <a:solidFill>
                  <a:srgbClr val="1F3864"/>
                </a:solidFill>
              </a:rPr>
              <a:t>Multi-window: independent state per grid instance, all streaming at once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300" b="1"/>
              <a:t>Screenshots - Row Drag &amp; Measured QA</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27</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pic>
        <p:nvPicPr>
          <p:cNvPr id="7" name="Picture 6" descr="11_row_drag.png"/>
          <p:cNvPicPr>
            <a:picLocks noChangeAspect="1"/>
          </p:cNvPicPr>
          <p:nvPr/>
        </p:nvPicPr>
        <p:blipFill>
          <a:blip r:embed="rId3"/>
          <a:stretch>
            <a:fillRect/>
          </a:stretch>
        </p:blipFill>
        <p:spPr>
          <a:xfrm>
            <a:off x="274320" y="2525077"/>
            <a:ext cx="4206240" cy="2164461"/>
          </a:xfrm>
          <a:prstGeom prst="rect">
            <a:avLst/>
          </a:prstGeom>
        </p:spPr>
      </p:pic>
      <p:pic>
        <p:nvPicPr>
          <p:cNvPr id="8" name="Picture 7" descr="10_scrollbar_gutter.png"/>
          <p:cNvPicPr>
            <a:picLocks noChangeAspect="1"/>
          </p:cNvPicPr>
          <p:nvPr/>
        </p:nvPicPr>
        <p:blipFill>
          <a:blip r:embed="rId4"/>
          <a:stretch>
            <a:fillRect/>
          </a:stretch>
        </p:blipFill>
        <p:spPr>
          <a:xfrm>
            <a:off x="4663440" y="2525077"/>
            <a:ext cx="4206240" cy="2164461"/>
          </a:xfrm>
          <a:prstGeom prst="rect">
            <a:avLst/>
          </a:prstGeom>
        </p:spPr>
      </p:pic>
      <p:sp>
        <p:nvSpPr>
          <p:cNvPr id="9" name="TextBox 8"/>
          <p:cNvSpPr txBox="1"/>
          <p:nvPr/>
        </p:nvSpPr>
        <p:spPr>
          <a:xfrm>
            <a:off x="320040" y="6053328"/>
            <a:ext cx="8503920" cy="310896"/>
          </a:xfrm>
          <a:prstGeom prst="rect">
            <a:avLst/>
          </a:prstGeom>
          <a:noFill/>
        </p:spPr>
        <p:txBody>
          <a:bodyPr wrap="square">
            <a:spAutoFit/>
          </a:bodyPr>
          <a:lstStyle/>
          <a:p>
            <a:pPr algn="ctr"/>
            <a:r>
              <a:rPr sz="1100" b="1">
                <a:solidFill>
                  <a:srgbClr val="1F3864"/>
                </a:solidFill>
              </a:rPr>
              <a:t>Cross-application drag-out  |  a reported defect closed with live measurements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Future Scope - Dirty-Rectangle Rendering</a:t>
            </a:r>
          </a:p>
        </p:txBody>
      </p:sp>
      <p:sp>
        <p:nvSpPr>
          <p:cNvPr id="3" name="Content Placeholder 2"/>
          <p:cNvSpPr>
            <a:spLocks noGrp="1"/>
          </p:cNvSpPr>
          <p:nvPr>
            <p:ph sz="quarter" idx="1"/>
          </p:nvPr>
        </p:nvSpPr>
        <p:spPr/>
        <p:txBody>
          <a:bodyPr>
            <a:normAutofit/>
          </a:bodyPr>
          <a:lstStyle/>
          <a:p>
            <a:pPr>
              <a:lnSpc>
                <a:spcPct val="120000"/>
              </a:lnSpc>
              <a:buFont typeface="Wingdings" panose="05000000000000000000" pitchFamily="2" charset="2"/>
              <a:buChar char="v"/>
            </a:pPr>
            <a:r>
              <a:rPr sz="1350" dirty="0">
                <a:solidFill>
                  <a:schemeClr val="tx1">
                    <a:lumMod val="95000"/>
                    <a:lumOff val="5000"/>
                  </a:schemeClr>
                </a:solidFill>
                <a:latin typeface="Calibri" panose="020F0502020204030204" pitchFamily="34" charset="0"/>
                <a:cs typeface="Calibri" panose="020F0502020204030204" pitchFamily="34" charset="0"/>
              </a:rPr>
              <a:t>Today every frame repaints the whole viewport: about 250 cells, 2.59 ms, even when only a handful of cells actually changed.</a:t>
            </a:r>
          </a:p>
          <a:p>
            <a:pPr>
              <a:lnSpc>
                <a:spcPct val="120000"/>
              </a:lnSpc>
              <a:buFont typeface="Wingdings" panose="05000000000000000000" pitchFamily="2" charset="2"/>
              <a:buChar char="v"/>
            </a:pPr>
            <a:r>
              <a:rPr sz="1350" dirty="0">
                <a:solidFill>
                  <a:schemeClr val="tx1">
                    <a:lumMod val="95000"/>
                    <a:lumOff val="5000"/>
                  </a:schemeClr>
                </a:solidFill>
                <a:latin typeface="Calibri" panose="020F0502020204030204" pitchFamily="34" charset="0"/>
                <a:cs typeface="Calibri" panose="020F0502020204030204" pitchFamily="34" charset="0"/>
              </a:rPr>
              <a:t>Dirty-rectangle rendering: mark the cells whose data changed since the last frame, union them into a small set of rectangles, clip the canvas to those rectangles, and repaint only them.</a:t>
            </a:r>
          </a:p>
          <a:p>
            <a:pPr>
              <a:lnSpc>
                <a:spcPct val="120000"/>
              </a:lnSpc>
              <a:buFont typeface="Wingdings" panose="05000000000000000000" pitchFamily="2" charset="2"/>
              <a:buChar char="v"/>
            </a:pPr>
            <a:r>
              <a:rPr sz="1350" dirty="0">
                <a:solidFill>
                  <a:schemeClr val="tx1">
                    <a:lumMod val="95000"/>
                    <a:lumOff val="5000"/>
                  </a:schemeClr>
                </a:solidFill>
                <a:latin typeface="Calibri" panose="020F0502020204030204" pitchFamily="34" charset="0"/>
                <a:cs typeface="Calibri" panose="020F0502020204030204" pitchFamily="34" charset="0"/>
              </a:rPr>
              <a:t>Expected gain: on a live feed where roughly 5% of visible rows tick, per-frame draw work falls from about 250 cells to about 12 - close to an order of magnitude less work.</a:t>
            </a:r>
          </a:p>
          <a:p>
            <a:pPr>
              <a:lnSpc>
                <a:spcPct val="120000"/>
              </a:lnSpc>
              <a:buFont typeface="Wingdings" panose="05000000000000000000" pitchFamily="2" charset="2"/>
              <a:buChar char="v"/>
            </a:pPr>
            <a:r>
              <a:rPr sz="1350" dirty="0">
                <a:solidFill>
                  <a:schemeClr val="tx1">
                    <a:lumMod val="95000"/>
                    <a:lumOff val="5000"/>
                  </a:schemeClr>
                </a:solidFill>
                <a:latin typeface="Calibri" panose="020F0502020204030204" pitchFamily="34" charset="0"/>
                <a:cs typeface="Calibri" panose="020F0502020204030204" pitchFamily="34" charset="0"/>
              </a:rPr>
              <a:t>It is not only speed: less drawing per frame means lower CPU and power draw, and more of the 16.7 ms frame budget left for the rest of the application.</a:t>
            </a:r>
          </a:p>
          <a:p>
            <a:pPr>
              <a:lnSpc>
                <a:spcPct val="120000"/>
              </a:lnSpc>
              <a:buFont typeface="Wingdings" panose="05000000000000000000" pitchFamily="2" charset="2"/>
              <a:buChar char="v"/>
            </a:pPr>
            <a:r>
              <a:rPr sz="1350" dirty="0">
                <a:solidFill>
                  <a:schemeClr val="tx1">
                    <a:lumMod val="95000"/>
                    <a:lumOff val="5000"/>
                  </a:schemeClr>
                </a:solidFill>
                <a:latin typeface="Calibri" panose="020F0502020204030204" pitchFamily="34" charset="0"/>
                <a:cs typeface="Calibri" panose="020F0502020204030204" pitchFamily="34" charset="0"/>
              </a:rPr>
              <a:t>Implementation path: a per-cell dirty flag set by the change pipeline, an SKRegion accumulated per frame, SKCanvas clipping before the draw loop, and a full-repaint fallback on scroll, resize, sort, filter or group.</a:t>
            </a:r>
          </a:p>
          <a:p>
            <a:pPr>
              <a:lnSpc>
                <a:spcPct val="120000"/>
              </a:lnSpc>
              <a:buFont typeface="Wingdings" panose="05000000000000000000" pitchFamily="2" charset="2"/>
              <a:buChar char="v"/>
            </a:pPr>
            <a:r>
              <a:rPr sz="1350" dirty="0">
                <a:solidFill>
                  <a:schemeClr val="tx1">
                    <a:lumMod val="95000"/>
                    <a:lumOff val="5000"/>
                  </a:schemeClr>
                </a:solidFill>
                <a:latin typeface="Calibri" panose="020F0502020204030204" pitchFamily="34" charset="0"/>
                <a:cs typeface="Calibri" panose="020F0502020204030204" pitchFamily="34" charset="0"/>
              </a:rPr>
              <a:t>Validation: extend GridMetrics with a cells-redrawn versus cells-visible ratio so the saving is measured rather than assumed.</a:t>
            </a:r>
          </a:p>
          <a:p>
            <a:pPr>
              <a:lnSpc>
                <a:spcPct val="120000"/>
              </a:lnSpc>
              <a:buFont typeface="Wingdings" panose="05000000000000000000" pitchFamily="2" charset="2"/>
              <a:buChar char="v"/>
            </a:pPr>
            <a:r>
              <a:rPr sz="1350" dirty="0">
                <a:solidFill>
                  <a:schemeClr val="tx1">
                    <a:lumMod val="95000"/>
                    <a:lumOff val="5000"/>
                  </a:schemeClr>
                </a:solidFill>
                <a:latin typeface="Calibri" panose="020F0502020204030204" pitchFamily="34" charset="0"/>
                <a:cs typeface="Calibri" panose="020F0502020204030204" pitchFamily="34" charset="0"/>
              </a:rPr>
              <a:t>Also planned: the cloud telemetry dashboard for GridMetrics, and in-place cell editing.</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28</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References / Key Technical Basis</a:t>
            </a:r>
          </a:p>
        </p:txBody>
      </p:sp>
      <p:sp>
        <p:nvSpPr>
          <p:cNvPr id="3" name="Content Placeholder 2"/>
          <p:cNvSpPr>
            <a:spLocks noGrp="1"/>
          </p:cNvSpPr>
          <p:nvPr>
            <p:ph sz="quarter" idx="1"/>
          </p:nvPr>
        </p:nvSpPr>
        <p:spPr/>
        <p:txBody>
          <a:bodyPr>
            <a:normAutofit/>
          </a:bodyPr>
          <a:lstStyle/>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WPF DataGrid documentation and rendering model.</a:t>
            </a:r>
            <a:endParaRPr lang="en-US" sz="1800" dirty="0">
              <a:latin typeface="Calibri" panose="020F0502020204030204" pitchFamily="34" charset="0"/>
              <a:cs typeface="Calibri" panose="020F0502020204030204" pitchFamily="34" charset="0"/>
            </a:endParaRPr>
          </a:p>
          <a:p>
            <a:pPr>
              <a:lnSpc>
                <a:spcPct val="150000"/>
              </a:lnSpc>
              <a:buFont typeface="Wingdings" panose="05000000000000000000" pitchFamily="2" charset="2"/>
              <a:buChar char="v"/>
            </a:pPr>
            <a:r>
              <a:rPr sz="1800" dirty="0" err="1">
                <a:latin typeface="Calibri" panose="020F0502020204030204" pitchFamily="34" charset="0"/>
                <a:cs typeface="Calibri" panose="020F0502020204030204" pitchFamily="34" charset="0"/>
              </a:rPr>
              <a:t>SkiaSharp</a:t>
            </a:r>
            <a:r>
              <a:rPr sz="1800" dirty="0">
                <a:latin typeface="Calibri" panose="020F0502020204030204" pitchFamily="34" charset="0"/>
                <a:cs typeface="Calibri" panose="020F0502020204030204" pitchFamily="34" charset="0"/>
              </a:rPr>
              <a:t> documentation and graphics/rendering concepts.</a:t>
            </a:r>
          </a:p>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NuGet package management and .NET library distribution.</a:t>
            </a:r>
          </a:p>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CI/CD practices for automated build, test, package, and release workflows.</a:t>
            </a:r>
          </a:p>
          <a:p>
            <a:pPr>
              <a:lnSpc>
                <a:spcPct val="150000"/>
              </a:lnSpc>
              <a:buFont typeface="Wingdings" panose="05000000000000000000" pitchFamily="2" charset="2"/>
              <a:buChar char="v"/>
            </a:pPr>
            <a:r>
              <a:rPr sz="1800" dirty="0">
                <a:latin typeface="Calibri" panose="020F0502020204030204" pitchFamily="34" charset="0"/>
                <a:cs typeface="Calibri" panose="020F0502020204030204" pitchFamily="34" charset="0"/>
              </a:rPr>
              <a:t>Performance engineering: frame-time measurement and large-dataset benchmarking.</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29</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spTree>
    <p:extLst>
      <p:ext uri="{BB962C8B-B14F-4D97-AF65-F5344CB8AC3E}">
        <p14:creationId xmlns:p14="http://schemas.microsoft.com/office/powerpoint/2010/main" val="8507116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SRS - Functional Requirements (1 of 2)</a:t>
            </a:r>
          </a:p>
        </p:txBody>
      </p:sp>
      <p:sp>
        <p:nvSpPr>
          <p:cNvPr id="3" name="Content Placeholder 2"/>
          <p:cNvSpPr>
            <a:spLocks noGrp="1"/>
          </p:cNvSpPr>
          <p:nvPr>
            <p:ph sz="quarter" idx="1"/>
          </p:nvPr>
        </p:nvSpPr>
        <p:spPr/>
        <p:txBody>
          <a:bodyPr>
            <a:normAutofit/>
          </a:bodyPr>
          <a:lstStyle/>
          <a:p>
            <a:pPr>
              <a:lnSpc>
                <a:spcPct val="130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FR-1  Data Binding - bind any collection of objects through ItemsSource; columns either declared in XAML or generated automatically.</a:t>
            </a:r>
          </a:p>
          <a:p>
            <a:pPr>
              <a:lnSpc>
                <a:spcPct val="130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FR-2  Immediate-Mode Rendering - paint only the rows inside the viewport onto a single SkiaSharp canvas.</a:t>
            </a:r>
          </a:p>
          <a:p>
            <a:pPr>
              <a:lnSpc>
                <a:spcPct val="130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FR-3  Navigation - vertical and horizontal scrolling, mouse wheel, and custom scroll bars with auto-visibility.</a:t>
            </a:r>
          </a:p>
          <a:p>
            <a:pPr>
              <a:lnSpc>
                <a:spcPct val="130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FR-4  Selection - single click, Ctrl+Click toggle, Shift+Click range, Ctrl+A select-all, arrow-key navigation, Ctrl+C copy.</a:t>
            </a:r>
          </a:p>
          <a:p>
            <a:pPr>
              <a:lnSpc>
                <a:spcPct val="130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FR-5  Sorting &amp; Filtering - click-to-sort per column; value, wildcard-text and list filters; optional timer-based live re-sort.</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30</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SRS - Functional Requirements (2 of 2)</a:t>
            </a:r>
          </a:p>
        </p:txBody>
      </p:sp>
      <p:sp>
        <p:nvSpPr>
          <p:cNvPr id="3" name="Content Placeholder 2"/>
          <p:cNvSpPr>
            <a:spLocks noGrp="1"/>
          </p:cNvSpPr>
          <p:nvPr>
            <p:ph sz="quarter" idx="1"/>
          </p:nvPr>
        </p:nvSpPr>
        <p:spPr/>
        <p:txBody>
          <a:bodyPr>
            <a:normAutofit/>
          </a:bodyPr>
          <a:lstStyle/>
          <a:p>
            <a:pPr>
              <a:lnSpc>
                <a:spcPct val="130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FR-6  Grouping - multi-level grouping with expand/collapse and Sum, Min, Max, Average, Count and Distinct subtotals.</a:t>
            </a:r>
          </a:p>
          <a:p>
            <a:pPr>
              <a:lnSpc>
                <a:spcPct val="130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FR-7  Conditional Styling - data triggers and setters that recolour cells, rows and group rows at render time, including timed highlights.</a:t>
            </a:r>
          </a:p>
          <a:p>
            <a:pPr>
              <a:lnSpc>
                <a:spcPct val="130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FR-8  Interactive Cells - in-cell buttons (text or image), checkboxes, hover states, tooltips and ICommand/MVVM binding.</a:t>
            </a:r>
          </a:p>
          <a:p>
            <a:pPr>
              <a:lnSpc>
                <a:spcPct val="130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FR-9  Row Drag &amp; Drop - reorder rows inside the grid, and drag rows out to another window or another application.</a:t>
            </a:r>
          </a:p>
          <a:p>
            <a:pPr>
              <a:lnSpc>
                <a:spcPct val="130000"/>
              </a:lnSpc>
              <a:buFont typeface="Wingdings" panose="05000000000000000000" pitchFamily="2" charset="2"/>
              <a:buChar char="v"/>
            </a:pPr>
            <a:r>
              <a:rPr sz="1500" dirty="0">
                <a:solidFill>
                  <a:schemeClr val="tx1">
                    <a:lumMod val="95000"/>
                    <a:lumOff val="5000"/>
                  </a:schemeClr>
                </a:solidFill>
                <a:latin typeface="Calibri" panose="020F0502020204030204" pitchFamily="34" charset="0"/>
                <a:cs typeface="Calibri" panose="020F0502020204030204" pitchFamily="34" charset="0"/>
              </a:rPr>
              <a:t>FR-10  Export &amp; Accessibility - TSV/clipboard export, and a full UI Automation peer tree for screen readers and automated UI tests.</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31</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b="1"/>
              <a:t>SRS - Non-Functional Requirements</a:t>
            </a:r>
          </a:p>
        </p:txBody>
      </p:sp>
      <p:sp>
        <p:nvSpPr>
          <p:cNvPr id="3" name="Content Placeholder 2"/>
          <p:cNvSpPr>
            <a:spLocks noGrp="1"/>
          </p:cNvSpPr>
          <p:nvPr>
            <p:ph sz="quarter" idx="1"/>
          </p:nvPr>
        </p:nvSpPr>
        <p:spPr/>
        <p:txBody>
          <a:bodyPr>
            <a:normAutofit/>
          </a:bodyPr>
          <a:lstStyle/>
          <a:p>
            <a:pPr>
              <a:lnSpc>
                <a:spcPct val="124000"/>
              </a:lnSpc>
              <a:buFont typeface="Wingdings" panose="05000000000000000000" pitchFamily="2" charset="2"/>
              <a:buChar char="v"/>
            </a:pPr>
            <a:r>
              <a:rPr sz="1450" dirty="0">
                <a:solidFill>
                  <a:schemeClr val="tx1">
                    <a:lumMod val="95000"/>
                    <a:lumOff val="5000"/>
                  </a:schemeClr>
                </a:solidFill>
                <a:latin typeface="Calibri" panose="020F0502020204030204" pitchFamily="34" charset="0"/>
                <a:cs typeface="Calibri" panose="020F0502020204030204" pitchFamily="34" charset="0"/>
              </a:rPr>
              <a:t>NFR-1  Performance - baseline frame time below 5 ms; measured 2.59 ms at 100,000 rows.</a:t>
            </a:r>
          </a:p>
          <a:p>
            <a:pPr>
              <a:lnSpc>
                <a:spcPct val="124000"/>
              </a:lnSpc>
              <a:buFont typeface="Wingdings" panose="05000000000000000000" pitchFamily="2" charset="2"/>
              <a:buChar char="v"/>
            </a:pPr>
            <a:r>
              <a:rPr sz="1450" dirty="0">
                <a:solidFill>
                  <a:schemeClr val="tx1">
                    <a:lumMod val="95000"/>
                    <a:lumOff val="5000"/>
                  </a:schemeClr>
                </a:solidFill>
                <a:latin typeface="Calibri" panose="020F0502020204030204" pitchFamily="34" charset="0"/>
                <a:cs typeface="Calibri" panose="020F0502020204030204" pitchFamily="34" charset="0"/>
              </a:rPr>
              <a:t>NFR-2  Scalability - render cost is proportional to viewport size, not dataset size; 2.75 ms at 1,000,000 rows.</a:t>
            </a:r>
          </a:p>
          <a:p>
            <a:pPr>
              <a:lnSpc>
                <a:spcPct val="124000"/>
              </a:lnSpc>
              <a:buFont typeface="Wingdings" panose="05000000000000000000" pitchFamily="2" charset="2"/>
              <a:buChar char="v"/>
            </a:pPr>
            <a:r>
              <a:rPr sz="1450" dirty="0">
                <a:solidFill>
                  <a:schemeClr val="tx1">
                    <a:lumMod val="95000"/>
                    <a:lumOff val="5000"/>
                  </a:schemeClr>
                </a:solidFill>
                <a:latin typeface="Calibri" panose="020F0502020204030204" pitchFamily="34" charset="0"/>
                <a:cs typeface="Calibri" panose="020F0502020204030204" pitchFamily="34" charset="0"/>
              </a:rPr>
              <a:t>NFR-3  Reusability - delivered as a self-contained NuGet package with no dependency on host-application internals.</a:t>
            </a:r>
          </a:p>
          <a:p>
            <a:pPr>
              <a:lnSpc>
                <a:spcPct val="124000"/>
              </a:lnSpc>
              <a:buFont typeface="Wingdings" panose="05000000000000000000" pitchFamily="2" charset="2"/>
              <a:buChar char="v"/>
            </a:pPr>
            <a:r>
              <a:rPr sz="1450" dirty="0">
                <a:solidFill>
                  <a:schemeClr val="tx1">
                    <a:lumMod val="95000"/>
                    <a:lumOff val="5000"/>
                  </a:schemeClr>
                </a:solidFill>
                <a:latin typeface="Calibri" panose="020F0502020204030204" pitchFamily="34" charset="0"/>
                <a:cs typeface="Calibri" panose="020F0502020204030204" pitchFamily="34" charset="0"/>
              </a:rPr>
              <a:t>NFR-4  Maintainability - layered design; seven managers and six renderers, each with a single responsibility.</a:t>
            </a:r>
          </a:p>
          <a:p>
            <a:pPr>
              <a:lnSpc>
                <a:spcPct val="124000"/>
              </a:lnSpc>
              <a:buFont typeface="Wingdings" panose="05000000000000000000" pitchFamily="2" charset="2"/>
              <a:buChar char="v"/>
            </a:pPr>
            <a:r>
              <a:rPr sz="1450" dirty="0">
                <a:solidFill>
                  <a:schemeClr val="tx1">
                    <a:lumMod val="95000"/>
                    <a:lumOff val="5000"/>
                  </a:schemeClr>
                </a:solidFill>
                <a:latin typeface="Calibri" panose="020F0502020204030204" pitchFamily="34" charset="0"/>
                <a:cs typeface="Calibri" panose="020F0502020204030204" pitchFamily="34" charset="0"/>
              </a:rPr>
              <a:t>NFR-5  Reliability - 552 automated unit tests; no native crashes across sleep/resume cycles.</a:t>
            </a:r>
          </a:p>
          <a:p>
            <a:pPr>
              <a:lnSpc>
                <a:spcPct val="124000"/>
              </a:lnSpc>
              <a:buFont typeface="Wingdings" panose="05000000000000000000" pitchFamily="2" charset="2"/>
              <a:buChar char="v"/>
            </a:pPr>
            <a:r>
              <a:rPr sz="1450" dirty="0">
                <a:solidFill>
                  <a:schemeClr val="tx1">
                    <a:lumMod val="95000"/>
                    <a:lumOff val="5000"/>
                  </a:schemeClr>
                </a:solidFill>
                <a:latin typeface="Calibri" panose="020F0502020204030204" pitchFamily="34" charset="0"/>
                <a:cs typeface="Calibri" panose="020F0502020204030204" pitchFamily="34" charset="0"/>
              </a:rPr>
              <a:t>NFR-6  Usability - mouse and keyboard behaviour matches the native WPF DataGrid.</a:t>
            </a:r>
          </a:p>
          <a:p>
            <a:pPr>
              <a:lnSpc>
                <a:spcPct val="124000"/>
              </a:lnSpc>
              <a:buFont typeface="Wingdings" panose="05000000000000000000" pitchFamily="2" charset="2"/>
              <a:buChar char="v"/>
            </a:pPr>
            <a:r>
              <a:rPr sz="1450" dirty="0">
                <a:solidFill>
                  <a:schemeClr val="tx1">
                    <a:lumMod val="95000"/>
                    <a:lumOff val="5000"/>
                  </a:schemeClr>
                </a:solidFill>
                <a:latin typeface="Calibri" panose="020F0502020204030204" pitchFamily="34" charset="0"/>
                <a:cs typeface="Calibri" panose="020F0502020204030204" pitchFamily="34" charset="0"/>
              </a:rPr>
              <a:t>NFR-7  Accessibility - UI Automation tree, switchable per grid or process-wide.</a:t>
            </a:r>
          </a:p>
          <a:p>
            <a:pPr>
              <a:lnSpc>
                <a:spcPct val="124000"/>
              </a:lnSpc>
              <a:buFont typeface="Wingdings" panose="05000000000000000000" pitchFamily="2" charset="2"/>
              <a:buChar char="v"/>
            </a:pPr>
            <a:r>
              <a:rPr sz="1450" dirty="0">
                <a:solidFill>
                  <a:schemeClr val="tx1">
                    <a:lumMod val="95000"/>
                    <a:lumOff val="5000"/>
                  </a:schemeClr>
                </a:solidFill>
                <a:latin typeface="Calibri" panose="020F0502020204030204" pitchFamily="34" charset="0"/>
                <a:cs typeface="Calibri" panose="020F0502020204030204" pitchFamily="34" charset="0"/>
              </a:rPr>
              <a:t>NFR-8  Portability &amp; Cost - .NET 8 on Windows; MIT licence; open-source dependencies only.</a:t>
            </a:r>
          </a:p>
        </p:txBody>
      </p:sp>
      <p:sp>
        <p:nvSpPr>
          <p:cNvPr id="4" name="Footer Placeholder 3"/>
          <p:cNvSpPr>
            <a:spLocks noGrp="1"/>
          </p:cNvSpPr>
          <p:nvPr>
            <p:ph type="ftr" sz="quarter" idx="11"/>
          </p:nvPr>
        </p:nvSpPr>
        <p:spPr/>
        <p:txBody>
          <a:bodyPr/>
          <a:lstStyle/>
          <a:p>
            <a:r>
              <a:rPr sz="1000" b="0"/>
              <a:t>FastGrid</a:t>
            </a:r>
            <a:endParaRPr lang="en-US" dirty="0"/>
          </a:p>
        </p:txBody>
      </p:sp>
      <p:sp>
        <p:nvSpPr>
          <p:cNvPr id="5" name="Slide Number Placeholder 4"/>
          <p:cNvSpPr>
            <a:spLocks noGrp="1"/>
          </p:cNvSpPr>
          <p:nvPr>
            <p:ph type="sldNum" sz="quarter" idx="12"/>
          </p:nvPr>
        </p:nvSpPr>
        <p:spPr/>
        <p:txBody>
          <a:bodyPr>
            <a:normAutofit fontScale="62500" lnSpcReduction="20000"/>
          </a:bodyPr>
          <a:lstStyle/>
          <a:p>
            <a:fld id="{9EBC64C3-3FC7-4C40-910B-2643F037F02C}" type="slidenum">
              <a:rPr lang="en-US" smtClean="0"/>
              <a:pPr/>
              <a:t>32</a:t>
            </a:fld>
            <a:endParaRPr lang="en-US" dirty="0"/>
          </a:p>
        </p:txBody>
      </p:sp>
      <p:sp>
        <p:nvSpPr>
          <p:cNvPr id="6" name="Date Placeholder 5"/>
          <p:cNvSpPr>
            <a:spLocks noGrp="1"/>
          </p:cNvSpPr>
          <p:nvPr>
            <p:ph type="dt" sz="half" idx="10"/>
          </p:nvPr>
        </p:nvSpPr>
        <p:spPr/>
        <p:txBody>
          <a:bodyPr/>
          <a:lstStyle/>
          <a:p>
            <a:pPr algn="ctr"/>
            <a:r>
              <a:rPr lang="en-US" dirty="0"/>
              <a:t>   Hamdard University </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123</TotalTime>
  <Words>3647</Words>
  <Application>Microsoft Office PowerPoint</Application>
  <PresentationFormat>On-screen Show (4:3)</PresentationFormat>
  <Paragraphs>340</Paragraphs>
  <Slides>32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Calibri</vt:lpstr>
      <vt:lpstr>Tw Cen MT</vt:lpstr>
      <vt:lpstr>Wingdings</vt:lpstr>
      <vt:lpstr>Wingdings 2</vt:lpstr>
      <vt:lpstr>Median</vt:lpstr>
      <vt:lpstr>PowerPoint Presentation</vt:lpstr>
      <vt:lpstr>FastGrid — Project Summary</vt:lpstr>
      <vt:lpstr>Problem Statement</vt:lpstr>
      <vt:lpstr>Objectives</vt:lpstr>
      <vt:lpstr>FYP Scope</vt:lpstr>
      <vt:lpstr>Change of Scope</vt:lpstr>
      <vt:lpstr>Our Methodology</vt:lpstr>
      <vt:lpstr>Tools &amp; Technologies</vt:lpstr>
      <vt:lpstr>Project Plan - 4 Phases, 8 Meetings</vt:lpstr>
      <vt:lpstr>RACI - Team Responsibility Matrix</vt:lpstr>
      <vt:lpstr>Gantt Chart - 4 Phases, 8 Meetings</vt:lpstr>
      <vt:lpstr>Budget / Costing</vt:lpstr>
      <vt:lpstr>FYP Deliverables</vt:lpstr>
      <vt:lpstr>Literature Review &amp; Alternatives</vt:lpstr>
      <vt:lpstr>Demo of 30% Work - Proof of Concept</vt:lpstr>
      <vt:lpstr>Deployment Flow Chart - CI/CD</vt:lpstr>
      <vt:lpstr>System Architecture</vt:lpstr>
      <vt:lpstr>Class Diagram - Core Control</vt:lpstr>
      <vt:lpstr>Sequence Diagram - Paint Cycle</vt:lpstr>
      <vt:lpstr>Data Flow Diagram - Level 0 (Context)</vt:lpstr>
      <vt:lpstr>Data Flow Diagram - Level 1</vt:lpstr>
      <vt:lpstr>System Process Flow</vt:lpstr>
      <vt:lpstr>Screenshots - 100,000 / 1,000,000 Row Benchmark</vt:lpstr>
      <vt:lpstr>Screenshots - All Features (complete API coverage)</vt:lpstr>
      <vt:lpstr>Screenshots - Instrumentation &amp; Feature Breadth</vt:lpstr>
      <vt:lpstr>Screenshots - Four Live Trading Desks</vt:lpstr>
      <vt:lpstr>Screenshots - Row Drag &amp; Measured QA</vt:lpstr>
      <vt:lpstr>Future Scope - Dirty-Rectangle Rendering</vt:lpstr>
      <vt:lpstr>References / Key Technical Basis</vt:lpstr>
      <vt:lpstr>SRS - Functional Requirements (1 of 2)</vt:lpstr>
      <vt:lpstr>SRS - Functional Requirements (2 of 2)</vt:lpstr>
      <vt:lpstr>SRS - Non-Functional Requirements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Asad Ur Rehman</dc:creator>
  <cp:lastModifiedBy>Fatima Rizwan</cp:lastModifiedBy>
  <cp:revision>52</cp:revision>
  <dcterms:created xsi:type="dcterms:W3CDTF">2015-09-23T05:32:20Z</dcterms:created>
  <dcterms:modified xsi:type="dcterms:W3CDTF">2026-09-11T19:12:46Z</dcterms:modified>
</cp:coreProperties>
</file>